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8046720" cy="1097280"/>
          </a:xfrm>
          <a:prstGeom prst="rect">
            <a:avLst/>
          </a:prstGeom>
          <a:noFill/>
        </p:spPr>
        <p:txBody>
          <a:bodyPr wrap="none">
            <a:spAutoFit/>
          </a:bodyPr>
          <a:lstStyle/>
          <a:p>
            <a:r>
              <a:rPr sz="2000" b="1" i="0">
                <a:solidFill>
                  <a:srgbClr val="FFFFFF"/>
                </a:solidFill>
                <a:latin typeface="Arial"/>
              </a:rPr>
              <a:t>BI</a:t>
            </a:r>
          </a:p>
        </p:txBody>
      </p:sp>
      <p:sp>
        <p:nvSpPr>
          <p:cNvPr id="4" name="TextBox 3"/>
          <p:cNvSpPr txBox="1"/>
          <p:nvPr/>
        </p:nvSpPr>
        <p:spPr>
          <a:xfrm>
            <a:off x="731520" y="2240280"/>
            <a:ext cx="7863840" cy="1828800"/>
          </a:xfrm>
          <a:prstGeom prst="rect">
            <a:avLst/>
          </a:prstGeom>
          <a:noFill/>
        </p:spPr>
        <p:txBody>
          <a:bodyPr wrap="square">
            <a:spAutoFit/>
          </a:bodyPr>
          <a:lstStyle/>
          <a:p>
            <a:r>
              <a:rPr sz="1400" b="0" i="0">
                <a:solidFill>
                  <a:srgbClr val="F7F9FC"/>
                </a:solidFill>
                <a:latin typeface="Arial"/>
              </a:rPr>
              <a:t>• Типовые слои</a:t>
            </a:r>
          </a:p>
          <a:p>
            <a:r>
              <a:rPr sz="1400" b="0" i="0">
                <a:solidFill>
                  <a:srgbClr val="F7F9FC"/>
                </a:solidFill>
                <a:latin typeface="Arial"/>
              </a:rPr>
              <a:t>• Лучшие практики</a:t>
            </a:r>
          </a:p>
          <a:p>
            <a:r>
              <a:rPr sz="1400" b="0" i="0">
                <a:solidFill>
                  <a:srgbClr val="F7F9FC"/>
                </a:solidFill>
                <a:latin typeface="Arial"/>
              </a:rPr>
              <a:t>• Шаг 1: Оценка готовности и формулирование целей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8229600" cy="640080"/>
          </a:xfrm>
          <a:prstGeom prst="rect">
            <a:avLst/>
          </a:prstGeom>
          <a:noFill/>
        </p:spPr>
        <p:txBody>
          <a:bodyPr wrap="none">
            <a:spAutoFit/>
          </a:bodyPr>
          <a:lstStyle/>
          <a:p>
            <a:r>
              <a:rPr sz="2000" b="1" i="0">
                <a:solidFill>
                  <a:srgbClr val="142033"/>
                </a:solidFill>
                <a:latin typeface="Arial"/>
              </a:rPr>
              <a:t>Структура презентации</a:t>
            </a:r>
          </a:p>
        </p:txBody>
      </p:sp>
      <p:sp>
        <p:nvSpPr>
          <p:cNvPr id="4" name="Rounded Rectangle 3"/>
          <p:cNvSpPr/>
          <p:nvPr/>
        </p:nvSpPr>
        <p:spPr>
          <a:xfrm>
            <a:off x="822960" y="14173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4297680" cy="438912"/>
          </a:xfrm>
          <a:prstGeom prst="rect">
            <a:avLst/>
          </a:prstGeom>
          <a:noFill/>
        </p:spPr>
        <p:txBody>
          <a:bodyPr wrap="none">
            <a:spAutoFit/>
          </a:bodyPr>
          <a:lstStyle/>
          <a:p>
            <a:r>
              <a:rPr sz="1400" b="1" i="0">
                <a:solidFill>
                  <a:srgbClr val="142033"/>
                </a:solidFill>
                <a:latin typeface="Arial"/>
              </a:rPr>
              <a:t>1. Типовые слои</a:t>
            </a:r>
          </a:p>
        </p:txBody>
      </p:sp>
      <p:sp>
        <p:nvSpPr>
          <p:cNvPr id="6" name="Rounded Rectangle 5"/>
          <p:cNvSpPr/>
          <p:nvPr/>
        </p:nvSpPr>
        <p:spPr>
          <a:xfrm>
            <a:off x="6309360" y="14173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554480"/>
            <a:ext cx="4297680" cy="438912"/>
          </a:xfrm>
          <a:prstGeom prst="rect">
            <a:avLst/>
          </a:prstGeom>
          <a:noFill/>
        </p:spPr>
        <p:txBody>
          <a:bodyPr wrap="none">
            <a:spAutoFit/>
          </a:bodyPr>
          <a:lstStyle/>
          <a:p>
            <a:r>
              <a:rPr sz="1400" b="1" i="0">
                <a:solidFill>
                  <a:srgbClr val="142033"/>
                </a:solidFill>
                <a:latin typeface="Arial"/>
              </a:rPr>
              <a:t>2. Лучшие практики</a:t>
            </a:r>
          </a:p>
        </p:txBody>
      </p:sp>
      <p:sp>
        <p:nvSpPr>
          <p:cNvPr id="8" name="Rounded Rectangle 7"/>
          <p:cNvSpPr/>
          <p:nvPr/>
        </p:nvSpPr>
        <p:spPr>
          <a:xfrm>
            <a:off x="822960" y="23317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68879"/>
            <a:ext cx="4297680" cy="438912"/>
          </a:xfrm>
          <a:prstGeom prst="rect">
            <a:avLst/>
          </a:prstGeom>
          <a:noFill/>
        </p:spPr>
        <p:txBody>
          <a:bodyPr wrap="none">
            <a:spAutoFit/>
          </a:bodyPr>
          <a:lstStyle/>
          <a:p>
            <a:r>
              <a:rPr sz="1400" b="1" i="0">
                <a:solidFill>
                  <a:srgbClr val="142033"/>
                </a:solidFill>
                <a:latin typeface="Arial"/>
              </a:rPr>
              <a:t>3. Шаг 1: Оценка готовности и формулирование целей</a:t>
            </a:r>
          </a:p>
        </p:txBody>
      </p:sp>
      <p:sp>
        <p:nvSpPr>
          <p:cNvPr id="10" name="Rounded Rectangle 9"/>
          <p:cNvSpPr/>
          <p:nvPr/>
        </p:nvSpPr>
        <p:spPr>
          <a:xfrm>
            <a:off x="6309360" y="23317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468879"/>
            <a:ext cx="4297680" cy="438912"/>
          </a:xfrm>
          <a:prstGeom prst="rect">
            <a:avLst/>
          </a:prstGeom>
          <a:noFill/>
        </p:spPr>
        <p:txBody>
          <a:bodyPr wrap="none">
            <a:spAutoFit/>
          </a:bodyPr>
          <a:lstStyle/>
          <a:p>
            <a:r>
              <a:rPr sz="1400" b="1" i="0">
                <a:solidFill>
                  <a:srgbClr val="142033"/>
                </a:solidFill>
                <a:latin typeface="Arial"/>
              </a:rPr>
              <a:t>4. Шаг 2: Проектирование архитектуры</a:t>
            </a:r>
          </a:p>
        </p:txBody>
      </p:sp>
      <p:sp>
        <p:nvSpPr>
          <p:cNvPr id="12" name="Rounded Rectangle 11"/>
          <p:cNvSpPr/>
          <p:nvPr/>
        </p:nvSpPr>
        <p:spPr>
          <a:xfrm>
            <a:off x="822960" y="32461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83279"/>
            <a:ext cx="4297680" cy="438912"/>
          </a:xfrm>
          <a:prstGeom prst="rect">
            <a:avLst/>
          </a:prstGeom>
          <a:noFill/>
        </p:spPr>
        <p:txBody>
          <a:bodyPr wrap="none">
            <a:spAutoFit/>
          </a:bodyPr>
          <a:lstStyle/>
          <a:p>
            <a:r>
              <a:rPr sz="1400" b="1" i="0">
                <a:solidFill>
                  <a:srgbClr val="142033"/>
                </a:solidFill>
                <a:latin typeface="Arial"/>
              </a:rPr>
              <a:t>5. Шаг 3: Реализация пилотного проекта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8229600" cy="640080"/>
          </a:xfrm>
          <a:prstGeom prst="rect">
            <a:avLst/>
          </a:prstGeom>
          <a:noFill/>
        </p:spPr>
        <p:txBody>
          <a:bodyPr wrap="none">
            <a:spAutoFit/>
          </a:bodyPr>
          <a:lstStyle/>
          <a:p>
            <a:r>
              <a:rPr sz="2000" b="1" i="0">
                <a:solidFill>
                  <a:srgbClr val="142033"/>
                </a:solidFill>
                <a:latin typeface="Arial"/>
              </a:rPr>
              <a:t>Структура презентации</a:t>
            </a:r>
          </a:p>
        </p:txBody>
      </p:sp>
      <p:sp>
        <p:nvSpPr>
          <p:cNvPr id="4" name="Rounded Rectangle 3"/>
          <p:cNvSpPr/>
          <p:nvPr/>
        </p:nvSpPr>
        <p:spPr>
          <a:xfrm>
            <a:off x="822960" y="14173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4297680" cy="438912"/>
          </a:xfrm>
          <a:prstGeom prst="rect">
            <a:avLst/>
          </a:prstGeom>
          <a:noFill/>
        </p:spPr>
        <p:txBody>
          <a:bodyPr wrap="none">
            <a:spAutoFit/>
          </a:bodyPr>
          <a:lstStyle/>
          <a:p>
            <a:r>
              <a:rPr sz="1400" b="1" i="0">
                <a:solidFill>
                  <a:srgbClr val="142033"/>
                </a:solidFill>
                <a:latin typeface="Arial"/>
              </a:rPr>
              <a:t>1. Шаг 4: Масштабирование и внедрение в производство</a:t>
            </a:r>
          </a:p>
        </p:txBody>
      </p:sp>
      <p:sp>
        <p:nvSpPr>
          <p:cNvPr id="6" name="Rounded Rectangle 5"/>
          <p:cNvSpPr/>
          <p:nvPr/>
        </p:nvSpPr>
        <p:spPr>
          <a:xfrm>
            <a:off x="6309360" y="14173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554480"/>
            <a:ext cx="4297680" cy="438912"/>
          </a:xfrm>
          <a:prstGeom prst="rect">
            <a:avLst/>
          </a:prstGeom>
          <a:noFill/>
        </p:spPr>
        <p:txBody>
          <a:bodyPr wrap="none">
            <a:spAutoFit/>
          </a:bodyPr>
          <a:lstStyle/>
          <a:p>
            <a:r>
              <a:rPr sz="1400" b="1" i="0">
                <a:solidFill>
                  <a:srgbClr val="142033"/>
                </a:solidFill>
                <a:latin typeface="Arial"/>
              </a:rPr>
              <a:t>2. Шаг 5: Поддержка, оптимизация и эволюция</a:t>
            </a:r>
          </a:p>
        </p:txBody>
      </p:sp>
      <p:sp>
        <p:nvSpPr>
          <p:cNvPr id="8" name="Rounded Rectangle 7"/>
          <p:cNvSpPr/>
          <p:nvPr/>
        </p:nvSpPr>
        <p:spPr>
          <a:xfrm>
            <a:off x="822960" y="23317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68879"/>
            <a:ext cx="4297680" cy="438912"/>
          </a:xfrm>
          <a:prstGeom prst="rect">
            <a:avLst/>
          </a:prstGeom>
          <a:noFill/>
        </p:spPr>
        <p:txBody>
          <a:bodyPr wrap="none">
            <a:spAutoFit/>
          </a:bodyPr>
          <a:lstStyle/>
          <a:p>
            <a:r>
              <a:rPr sz="1400" b="1" i="0">
                <a:solidFill>
                  <a:srgbClr val="142033"/>
                </a:solidFill>
                <a:latin typeface="Arial"/>
              </a:rPr>
              <a:t>3. Ключевые элементы BI</a:t>
            </a:r>
          </a:p>
        </p:txBody>
      </p:sp>
      <p:sp>
        <p:nvSpPr>
          <p:cNvPr id="10" name="Rounded Rectangle 9"/>
          <p:cNvSpPr/>
          <p:nvPr/>
        </p:nvSpPr>
        <p:spPr>
          <a:xfrm>
            <a:off x="6309360" y="23317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468879"/>
            <a:ext cx="4297680" cy="438912"/>
          </a:xfrm>
          <a:prstGeom prst="rect">
            <a:avLst/>
          </a:prstGeom>
          <a:noFill/>
        </p:spPr>
        <p:txBody>
          <a:bodyPr wrap="none">
            <a:spAutoFit/>
          </a:bodyPr>
          <a:lstStyle/>
          <a:p>
            <a:r>
              <a:rPr sz="1400" b="1" i="0">
                <a:solidFill>
                  <a:srgbClr val="142033"/>
                </a:solidFill>
                <a:latin typeface="Arial"/>
              </a:rPr>
              <a:t>4. Типовые слои</a:t>
            </a:r>
          </a:p>
        </p:txBody>
      </p:sp>
      <p:sp>
        <p:nvSpPr>
          <p:cNvPr id="12" name="Rounded Rectangle 11"/>
          <p:cNvSpPr/>
          <p:nvPr/>
        </p:nvSpPr>
        <p:spPr>
          <a:xfrm>
            <a:off x="822960" y="32461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83279"/>
            <a:ext cx="4297680" cy="438912"/>
          </a:xfrm>
          <a:prstGeom prst="rect">
            <a:avLst/>
          </a:prstGeom>
          <a:noFill/>
        </p:spPr>
        <p:txBody>
          <a:bodyPr wrap="none">
            <a:spAutoFit/>
          </a:bodyPr>
          <a:lstStyle/>
          <a:p>
            <a:r>
              <a:rPr sz="1400" b="1" i="0">
                <a:solidFill>
                  <a:srgbClr val="142033"/>
                </a:solidFill>
                <a:latin typeface="Arial"/>
              </a:rPr>
              <a:t>5. Лучшие практики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8229600" cy="640080"/>
          </a:xfrm>
          <a:prstGeom prst="rect">
            <a:avLst/>
          </a:prstGeom>
          <a:noFill/>
        </p:spPr>
        <p:txBody>
          <a:bodyPr wrap="none">
            <a:spAutoFit/>
          </a:bodyPr>
          <a:lstStyle/>
          <a:p>
            <a:r>
              <a:rPr sz="2000" b="1" i="0">
                <a:solidFill>
                  <a:srgbClr val="142033"/>
                </a:solidFill>
                <a:latin typeface="Arial"/>
              </a:rPr>
              <a:t>Структура презентации</a:t>
            </a:r>
          </a:p>
        </p:txBody>
      </p:sp>
      <p:sp>
        <p:nvSpPr>
          <p:cNvPr id="4" name="Rounded Rectangle 3"/>
          <p:cNvSpPr/>
          <p:nvPr/>
        </p:nvSpPr>
        <p:spPr>
          <a:xfrm>
            <a:off x="822960" y="14173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4297680" cy="438912"/>
          </a:xfrm>
          <a:prstGeom prst="rect">
            <a:avLst/>
          </a:prstGeom>
          <a:noFill/>
        </p:spPr>
        <p:txBody>
          <a:bodyPr wrap="none">
            <a:spAutoFit/>
          </a:bodyPr>
          <a:lstStyle/>
          <a:p>
            <a:r>
              <a:rPr sz="1400" b="1" i="0">
                <a:solidFill>
                  <a:srgbClr val="142033"/>
                </a:solidFill>
                <a:latin typeface="Arial"/>
              </a:rPr>
              <a:t>1. Шаг 1: Оценка готовности и формулирование целей</a:t>
            </a:r>
          </a:p>
        </p:txBody>
      </p:sp>
      <p:sp>
        <p:nvSpPr>
          <p:cNvPr id="6" name="Rounded Rectangle 5"/>
          <p:cNvSpPr/>
          <p:nvPr/>
        </p:nvSpPr>
        <p:spPr>
          <a:xfrm>
            <a:off x="6309360" y="14173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554480"/>
            <a:ext cx="4297680" cy="438912"/>
          </a:xfrm>
          <a:prstGeom prst="rect">
            <a:avLst/>
          </a:prstGeom>
          <a:noFill/>
        </p:spPr>
        <p:txBody>
          <a:bodyPr wrap="none">
            <a:spAutoFit/>
          </a:bodyPr>
          <a:lstStyle/>
          <a:p>
            <a:r>
              <a:rPr sz="1400" b="1" i="0">
                <a:solidFill>
                  <a:srgbClr val="142033"/>
                </a:solidFill>
                <a:latin typeface="Arial"/>
              </a:rPr>
              <a:t>2. Шаг 2: Проектирование архитектуры</a:t>
            </a:r>
          </a:p>
        </p:txBody>
      </p:sp>
      <p:sp>
        <p:nvSpPr>
          <p:cNvPr id="8" name="Rounded Rectangle 7"/>
          <p:cNvSpPr/>
          <p:nvPr/>
        </p:nvSpPr>
        <p:spPr>
          <a:xfrm>
            <a:off x="822960" y="23317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68879"/>
            <a:ext cx="4297680" cy="438912"/>
          </a:xfrm>
          <a:prstGeom prst="rect">
            <a:avLst/>
          </a:prstGeom>
          <a:noFill/>
        </p:spPr>
        <p:txBody>
          <a:bodyPr wrap="none">
            <a:spAutoFit/>
          </a:bodyPr>
          <a:lstStyle/>
          <a:p>
            <a:r>
              <a:rPr sz="1400" b="1" i="0">
                <a:solidFill>
                  <a:srgbClr val="142033"/>
                </a:solidFill>
                <a:latin typeface="Arial"/>
              </a:rPr>
              <a:t>3. Шаг 3: Реализация пилотного проекта</a:t>
            </a:r>
          </a:p>
        </p:txBody>
      </p:sp>
      <p:sp>
        <p:nvSpPr>
          <p:cNvPr id="10" name="Rounded Rectangle 9"/>
          <p:cNvSpPr/>
          <p:nvPr/>
        </p:nvSpPr>
        <p:spPr>
          <a:xfrm>
            <a:off x="6309360" y="23317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468879"/>
            <a:ext cx="4297680" cy="438912"/>
          </a:xfrm>
          <a:prstGeom prst="rect">
            <a:avLst/>
          </a:prstGeom>
          <a:noFill/>
        </p:spPr>
        <p:txBody>
          <a:bodyPr wrap="none">
            <a:spAutoFit/>
          </a:bodyPr>
          <a:lstStyle/>
          <a:p>
            <a:r>
              <a:rPr sz="1400" b="1" i="0">
                <a:solidFill>
                  <a:srgbClr val="142033"/>
                </a:solidFill>
                <a:latin typeface="Arial"/>
              </a:rPr>
              <a:t>4. Шаг 4: Масштабирование и внедрение в производство</a:t>
            </a:r>
          </a:p>
        </p:txBody>
      </p:sp>
      <p:sp>
        <p:nvSpPr>
          <p:cNvPr id="12" name="Rounded Rectangle 11"/>
          <p:cNvSpPr/>
          <p:nvPr/>
        </p:nvSpPr>
        <p:spPr>
          <a:xfrm>
            <a:off x="822960" y="3246120"/>
            <a:ext cx="4892040" cy="7132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83279"/>
            <a:ext cx="4297680" cy="438912"/>
          </a:xfrm>
          <a:prstGeom prst="rect">
            <a:avLst/>
          </a:prstGeom>
          <a:noFill/>
        </p:spPr>
        <p:txBody>
          <a:bodyPr wrap="none">
            <a:spAutoFit/>
          </a:bodyPr>
          <a:lstStyle/>
          <a:p>
            <a:r>
              <a:rPr sz="1400" b="1" i="0">
                <a:solidFill>
                  <a:srgbClr val="142033"/>
                </a:solidFill>
                <a:latin typeface="Arial"/>
              </a:rPr>
              <a:t>5. Шаг 5: Поддержка, оптимизация и эволюция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Типовые слои</a:t>
            </a:r>
          </a:p>
        </p:txBody>
      </p:sp>
      <p:sp>
        <p:nvSpPr>
          <p:cNvPr id="4" name="TextBox 3"/>
          <p:cNvSpPr txBox="1"/>
          <p:nvPr/>
        </p:nvSpPr>
        <p:spPr>
          <a:xfrm>
            <a:off x="731520" y="1005840"/>
            <a:ext cx="4114800" cy="274320"/>
          </a:xfrm>
          <a:prstGeom prst="rect">
            <a:avLst/>
          </a:prstGeom>
          <a:noFill/>
        </p:spPr>
        <p:txBody>
          <a:bodyPr wrap="none">
            <a:spAutoFit/>
          </a:bodyPr>
          <a:lstStyle/>
          <a:p>
            <a:r>
              <a:rPr sz="1400" b="0" i="0">
                <a:solidFill>
                  <a:srgbClr val="667085"/>
                </a:solidFill>
                <a:latin typeface="Arial"/>
              </a:rPr>
              <a:t>Поэтапный план внедрения</a:t>
            </a:r>
          </a:p>
        </p:txBody>
      </p:sp>
      <p:cxnSp>
        <p:nvCxnSpPr>
          <p:cNvPr id="5" name="Connector 4"/>
          <p:cNvCxnSpPr/>
          <p:nvPr/>
        </p:nvCxnSpPr>
        <p:spPr>
          <a:xfrm>
            <a:off x="1371600" y="3154680"/>
            <a:ext cx="9418320" cy="0"/>
          </a:xfrm>
          <a:prstGeom prst="line">
            <a:avLst/>
          </a:prstGeom>
          <a:ln w="25400">
            <a:solidFill>
              <a:srgbClr val="2F6B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65376"/>
            <a:ext cx="201168" cy="137160"/>
          </a:xfrm>
          <a:prstGeom prst="rect">
            <a:avLst/>
          </a:prstGeom>
          <a:noFill/>
        </p:spPr>
        <p:txBody>
          <a:bodyPr wrap="none">
            <a:spAutoFit/>
          </a:bodyPr>
          <a:lstStyle/>
          <a:p>
            <a:r>
              <a:rPr sz="900" b="1" i="0">
                <a:solidFill>
                  <a:srgbClr val="FFFFFF"/>
                </a:solidFill>
                <a:latin typeface="Arial"/>
              </a:rPr>
              <a:t>1</a:t>
            </a:r>
          </a:p>
        </p:txBody>
      </p:sp>
      <p:sp>
        <p:nvSpPr>
          <p:cNvPr id="9" name="TextBox 8"/>
          <p:cNvSpPr txBox="1"/>
          <p:nvPr/>
        </p:nvSpPr>
        <p:spPr>
          <a:xfrm>
            <a:off x="1005840" y="2240280"/>
            <a:ext cx="1828800" cy="1325880"/>
          </a:xfrm>
          <a:prstGeom prst="rect">
            <a:avLst/>
          </a:prstGeom>
          <a:noFill/>
        </p:spPr>
        <p:txBody>
          <a:bodyPr wrap="square">
            <a:spAutoFit/>
          </a:bodyPr>
          <a:lstStyle/>
          <a:p>
            <a:r>
              <a:rPr sz="1200" b="0" i="0">
                <a:solidFill>
                  <a:srgbClr val="142033"/>
                </a:solidFill>
                <a:latin typeface="Arial"/>
              </a:rPr>
              <a:t>Вход – сбор данных из ERP, CRM, систем логирования, внешних API, файлов, потоков.</a:t>
            </a:r>
          </a:p>
        </p:txBody>
      </p:sp>
      <p:sp>
        <p:nvSpPr>
          <p:cNvPr id="10" name="Rounded Rectangle 9"/>
          <p:cNvSpPr/>
          <p:nvPr/>
        </p:nvSpPr>
        <p:spPr>
          <a:xfrm>
            <a:off x="35661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033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865376"/>
            <a:ext cx="201168" cy="137160"/>
          </a:xfrm>
          <a:prstGeom prst="rect">
            <a:avLst/>
          </a:prstGeom>
          <a:noFill/>
        </p:spPr>
        <p:txBody>
          <a:bodyPr wrap="none">
            <a:spAutoFit/>
          </a:bodyPr>
          <a:lstStyle/>
          <a:p>
            <a:r>
              <a:rPr sz="900" b="1" i="0">
                <a:solidFill>
                  <a:srgbClr val="FFFFFF"/>
                </a:solidFill>
                <a:latin typeface="Arial"/>
              </a:rPr>
              <a:t>2</a:t>
            </a:r>
          </a:p>
        </p:txBody>
      </p:sp>
      <p:sp>
        <p:nvSpPr>
          <p:cNvPr id="13" name="TextBox 12"/>
          <p:cNvSpPr txBox="1"/>
          <p:nvPr/>
        </p:nvSpPr>
        <p:spPr>
          <a:xfrm>
            <a:off x="3749039" y="2240280"/>
            <a:ext cx="1828800" cy="1325880"/>
          </a:xfrm>
          <a:prstGeom prst="rect">
            <a:avLst/>
          </a:prstGeom>
          <a:noFill/>
        </p:spPr>
        <p:txBody>
          <a:bodyPr wrap="square">
            <a:spAutoFit/>
          </a:bodyPr>
          <a:lstStyle/>
          <a:p>
            <a:r>
              <a:rPr sz="1200" b="0" i="0">
                <a:solidFill>
                  <a:srgbClr val="142033"/>
                </a:solidFill>
                <a:latin typeface="Arial"/>
              </a:rPr>
              <a:t>Интеграция – ETL/ELT процессы с профилированием, очисткой, дедупликацией, обогащением справочниками.</a:t>
            </a:r>
          </a:p>
        </p:txBody>
      </p:sp>
      <p:sp>
        <p:nvSpPr>
          <p:cNvPr id="14" name="Rounded Rectangle 13"/>
          <p:cNvSpPr/>
          <p:nvPr/>
        </p:nvSpPr>
        <p:spPr>
          <a:xfrm>
            <a:off x="63093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465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865376"/>
            <a:ext cx="201168" cy="137160"/>
          </a:xfrm>
          <a:prstGeom prst="rect">
            <a:avLst/>
          </a:prstGeom>
          <a:noFill/>
        </p:spPr>
        <p:txBody>
          <a:bodyPr wrap="none">
            <a:spAutoFit/>
          </a:bodyPr>
          <a:lstStyle/>
          <a:p>
            <a:r>
              <a:rPr sz="900" b="1" i="0">
                <a:solidFill>
                  <a:srgbClr val="FFFFFF"/>
                </a:solidFill>
                <a:latin typeface="Arial"/>
              </a:rPr>
              <a:t>3</a:t>
            </a:r>
          </a:p>
        </p:txBody>
      </p:sp>
      <p:sp>
        <p:nvSpPr>
          <p:cNvPr id="17" name="TextBox 16"/>
          <p:cNvSpPr txBox="1"/>
          <p:nvPr/>
        </p:nvSpPr>
        <p:spPr>
          <a:xfrm>
            <a:off x="6492240" y="2240280"/>
            <a:ext cx="1828800" cy="1325880"/>
          </a:xfrm>
          <a:prstGeom prst="rect">
            <a:avLst/>
          </a:prstGeom>
          <a:noFill/>
        </p:spPr>
        <p:txBody>
          <a:bodyPr wrap="square">
            <a:spAutoFit/>
          </a:bodyPr>
          <a:lstStyle/>
          <a:p>
            <a:r>
              <a:rPr sz="1200" b="0" i="0">
                <a:solidFill>
                  <a:srgbClr val="142033"/>
                </a:solidFill>
                <a:latin typeface="Arial"/>
              </a:rPr>
              <a:t>Хранилище – центральное хранилище данных (data warehouse) или тематические витрины (data mart), возможно дополненное озером данных для неструктурированной информации.</a:t>
            </a:r>
          </a:p>
        </p:txBody>
      </p:sp>
      <p:sp>
        <p:nvSpPr>
          <p:cNvPr id="18" name="Rounded Rectangle 17"/>
          <p:cNvSpPr/>
          <p:nvPr/>
        </p:nvSpPr>
        <p:spPr>
          <a:xfrm>
            <a:off x="90525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897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1865376"/>
            <a:ext cx="201168" cy="137160"/>
          </a:xfrm>
          <a:prstGeom prst="rect">
            <a:avLst/>
          </a:prstGeom>
          <a:noFill/>
        </p:spPr>
        <p:txBody>
          <a:bodyPr wrap="none">
            <a:spAutoFit/>
          </a:bodyPr>
          <a:lstStyle/>
          <a:p>
            <a:r>
              <a:rPr sz="900" b="1" i="0">
                <a:solidFill>
                  <a:srgbClr val="FFFFFF"/>
                </a:solidFill>
                <a:latin typeface="Arial"/>
              </a:rPr>
              <a:t>4</a:t>
            </a:r>
          </a:p>
        </p:txBody>
      </p:sp>
      <p:sp>
        <p:nvSpPr>
          <p:cNvPr id="21" name="TextBox 20"/>
          <p:cNvSpPr txBox="1"/>
          <p:nvPr/>
        </p:nvSpPr>
        <p:spPr>
          <a:xfrm>
            <a:off x="9235440" y="2240280"/>
            <a:ext cx="1828800" cy="1325880"/>
          </a:xfrm>
          <a:prstGeom prst="rect">
            <a:avLst/>
          </a:prstGeom>
          <a:noFill/>
        </p:spPr>
        <p:txBody>
          <a:bodyPr wrap="square">
            <a:spAutoFit/>
          </a:bodyPr>
          <a:lstStyle/>
          <a:p>
            <a:r>
              <a:rPr sz="1200" b="0" i="0">
                <a:solidFill>
                  <a:srgbClr val="142033"/>
                </a:solidFill>
                <a:latin typeface="Arial"/>
              </a:rPr>
              <a:t>Семантический слой – бизнес‑глоссарий, модели измерений и фактов, метаданные о lineage и качестве.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Типовые слои (этапы 2)</a:t>
            </a:r>
          </a:p>
        </p:txBody>
      </p:sp>
      <p:sp>
        <p:nvSpPr>
          <p:cNvPr id="4" name="TextBox 3"/>
          <p:cNvSpPr txBox="1"/>
          <p:nvPr/>
        </p:nvSpPr>
        <p:spPr>
          <a:xfrm>
            <a:off x="731520" y="1005840"/>
            <a:ext cx="4114800" cy="274320"/>
          </a:xfrm>
          <a:prstGeom prst="rect">
            <a:avLst/>
          </a:prstGeom>
          <a:noFill/>
        </p:spPr>
        <p:txBody>
          <a:bodyPr wrap="none">
            <a:spAutoFit/>
          </a:bodyPr>
          <a:lstStyle/>
          <a:p>
            <a:r>
              <a:rPr sz="1400" b="0" i="0">
                <a:solidFill>
                  <a:srgbClr val="667085"/>
                </a:solidFill>
                <a:latin typeface="Arial"/>
              </a:rPr>
              <a:t>Поэтапный план внедрения</a:t>
            </a:r>
          </a:p>
        </p:txBody>
      </p:sp>
      <p:cxnSp>
        <p:nvCxnSpPr>
          <p:cNvPr id="5" name="Connector 4"/>
          <p:cNvCxnSpPr/>
          <p:nvPr/>
        </p:nvCxnSpPr>
        <p:spPr>
          <a:xfrm>
            <a:off x="1371600" y="3154680"/>
            <a:ext cx="9418320" cy="0"/>
          </a:xfrm>
          <a:prstGeom prst="line">
            <a:avLst/>
          </a:prstGeom>
          <a:ln w="25400">
            <a:solidFill>
              <a:srgbClr val="2F6B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65376"/>
            <a:ext cx="201168" cy="137160"/>
          </a:xfrm>
          <a:prstGeom prst="rect">
            <a:avLst/>
          </a:prstGeom>
          <a:noFill/>
        </p:spPr>
        <p:txBody>
          <a:bodyPr wrap="none">
            <a:spAutoFit/>
          </a:bodyPr>
          <a:lstStyle/>
          <a:p>
            <a:r>
              <a:rPr sz="900" b="1" i="0">
                <a:solidFill>
                  <a:srgbClr val="FFFFFF"/>
                </a:solidFill>
                <a:latin typeface="Arial"/>
              </a:rPr>
              <a:t>1</a:t>
            </a:r>
          </a:p>
        </p:txBody>
      </p:sp>
      <p:sp>
        <p:nvSpPr>
          <p:cNvPr id="9" name="TextBox 8"/>
          <p:cNvSpPr txBox="1"/>
          <p:nvPr/>
        </p:nvSpPr>
        <p:spPr>
          <a:xfrm>
            <a:off x="1005840" y="2240280"/>
            <a:ext cx="1828800" cy="1325880"/>
          </a:xfrm>
          <a:prstGeom prst="rect">
            <a:avLst/>
          </a:prstGeom>
          <a:noFill/>
        </p:spPr>
        <p:txBody>
          <a:bodyPr wrap="square">
            <a:spAutoFit/>
          </a:bodyPr>
          <a:lstStyle/>
          <a:p>
            <a:r>
              <a:rPr sz="1200" b="0" i="0">
                <a:solidFill>
                  <a:srgbClr val="142033"/>
                </a:solidFill>
                <a:latin typeface="Arial"/>
              </a:rPr>
              <a:t>Аналитика – OLAP‑кубы для многомерного среза, статистические модели, алгоритмы машинного обучения для предиктивной и прескриптивной аналитики.</a:t>
            </a:r>
          </a:p>
        </p:txBody>
      </p:sp>
      <p:sp>
        <p:nvSpPr>
          <p:cNvPr id="10" name="Rounded Rectangle 9"/>
          <p:cNvSpPr/>
          <p:nvPr/>
        </p:nvSpPr>
        <p:spPr>
          <a:xfrm>
            <a:off x="35661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033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865376"/>
            <a:ext cx="201168" cy="137160"/>
          </a:xfrm>
          <a:prstGeom prst="rect">
            <a:avLst/>
          </a:prstGeom>
          <a:noFill/>
        </p:spPr>
        <p:txBody>
          <a:bodyPr wrap="none">
            <a:spAutoFit/>
          </a:bodyPr>
          <a:lstStyle/>
          <a:p>
            <a:r>
              <a:rPr sz="900" b="1" i="0">
                <a:solidFill>
                  <a:srgbClr val="FFFFFF"/>
                </a:solidFill>
                <a:latin typeface="Arial"/>
              </a:rPr>
              <a:t>2</a:t>
            </a:r>
          </a:p>
        </p:txBody>
      </p:sp>
      <p:sp>
        <p:nvSpPr>
          <p:cNvPr id="13" name="TextBox 12"/>
          <p:cNvSpPr txBox="1"/>
          <p:nvPr/>
        </p:nvSpPr>
        <p:spPr>
          <a:xfrm>
            <a:off x="3749039" y="2240280"/>
            <a:ext cx="1828800" cy="1325880"/>
          </a:xfrm>
          <a:prstGeom prst="rect">
            <a:avLst/>
          </a:prstGeom>
          <a:noFill/>
        </p:spPr>
        <p:txBody>
          <a:bodyPr wrap="square">
            <a:spAutoFit/>
          </a:bodyPr>
          <a:lstStyle/>
          <a:p>
            <a:r>
              <a:rPr sz="1200" b="0" i="0">
                <a:solidFill>
                  <a:srgbClr val="142033"/>
                </a:solidFill>
                <a:latin typeface="Arial"/>
              </a:rPr>
              <a:t>Визуализация – интерактивные дашборды, отчеты по расписанию, self‑service порталы, встраиваемая аналитика в бизнес‑приложения.</a:t>
            </a:r>
          </a:p>
        </p:txBody>
      </p:sp>
      <p:sp>
        <p:nvSpPr>
          <p:cNvPr id="14" name="Rounded Rectangle 13"/>
          <p:cNvSpPr/>
          <p:nvPr/>
        </p:nvSpPr>
        <p:spPr>
          <a:xfrm>
            <a:off x="63093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465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865376"/>
            <a:ext cx="201168" cy="137160"/>
          </a:xfrm>
          <a:prstGeom prst="rect">
            <a:avLst/>
          </a:prstGeom>
          <a:noFill/>
        </p:spPr>
        <p:txBody>
          <a:bodyPr wrap="none">
            <a:spAutoFit/>
          </a:bodyPr>
          <a:lstStyle/>
          <a:p>
            <a:r>
              <a:rPr sz="900" b="1" i="0">
                <a:solidFill>
                  <a:srgbClr val="FFFFFF"/>
                </a:solidFill>
                <a:latin typeface="Arial"/>
              </a:rPr>
              <a:t>3</a:t>
            </a:r>
          </a:p>
        </p:txBody>
      </p:sp>
      <p:sp>
        <p:nvSpPr>
          <p:cNvPr id="17" name="TextBox 16"/>
          <p:cNvSpPr txBox="1"/>
          <p:nvPr/>
        </p:nvSpPr>
        <p:spPr>
          <a:xfrm>
            <a:off x="6492240" y="2240280"/>
            <a:ext cx="1828800" cy="1325880"/>
          </a:xfrm>
          <a:prstGeom prst="rect">
            <a:avLst/>
          </a:prstGeom>
          <a:noFill/>
        </p:spPr>
        <p:txBody>
          <a:bodyPr wrap="square">
            <a:spAutoFit/>
          </a:bodyPr>
          <a:lstStyle/>
          <a:p>
            <a:r>
              <a:rPr sz="1200" b="0" i="0">
                <a:solidFill>
                  <a:srgbClr val="142033"/>
                </a:solidFill>
                <a:latin typeface="Arial"/>
              </a:rPr>
              <a:t>Действия – автоматические оповещения, workflow‑триггеры, обратная связь в операционные системы, мониторинг выполнения планов.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Лучшие практики</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создание центра компетенции по BI (BICC) или аналитики (ACC) для управления стандартами, обучения пользователей и обеспечения качества.</a:t>
            </a:r>
          </a:p>
          <a:p>
            <a:pPr>
              <a:spcAft>
                <a:spcPts val="800"/>
              </a:spcAft>
            </a:pPr>
            <a:r>
              <a:rPr sz="1200" b="0" i="0">
                <a:solidFill>
                  <a:srgbClr val="142033"/>
                </a:solidFill>
                <a:latin typeface="Arial"/>
              </a:rPr>
              <a:t>• </a:t>
            </a:r>
            <a:r>
              <a:rPr sz="1200" b="0" i="0">
                <a:solidFill>
                  <a:srgbClr val="142033"/>
                </a:solidFill>
                <a:latin typeface="Arial"/>
              </a:rPr>
              <a:t>внедрение самообслуживающего BI с четким управлением доступом и политиками безопасности.</a:t>
            </a:r>
          </a:p>
          <a:p>
            <a:pPr>
              <a:spcAft>
                <a:spcPts val="800"/>
              </a:spcAft>
            </a:pPr>
            <a:r>
              <a:rPr sz="1200" b="0" i="0">
                <a:solidFill>
                  <a:srgbClr val="142033"/>
                </a:solidFill>
                <a:latin typeface="Arial"/>
              </a:rPr>
              <a:t>• </a:t>
            </a:r>
            <a:r>
              <a:rPr sz="1200" b="0" i="0">
                <a:solidFill>
                  <a:srgbClr val="142033"/>
                </a:solidFill>
                <a:latin typeface="Arial"/>
              </a:rPr>
              <a:t>использование augmented analytics: автоматическое выявление инсайтов, объяснение отклонений метрик, генерация рекомендаций на естественном языке.</a:t>
            </a:r>
          </a:p>
          <a:p>
            <a:pPr>
              <a:spcAft>
                <a:spcPts val="800"/>
              </a:spcAft>
            </a:pPr>
            <a:r>
              <a:rPr sz="1200" b="0" i="0">
                <a:solidFill>
                  <a:srgbClr val="142033"/>
                </a:solidFill>
                <a:latin typeface="Arial"/>
              </a:rPr>
              <a:t>• </a:t>
            </a:r>
            <a:r>
              <a:rPr sz="1200" b="0" i="0">
                <a:solidFill>
                  <a:srgbClr val="142033"/>
                </a:solidFill>
                <a:latin typeface="Arial"/>
              </a:rPr>
              <a:t>обработка неструктурированных данных (текст, логи, соцсети) с применением NLP и техники извлечения сущностей.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Лучшие практики (продолжение 2)</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соблюдение нормативных требований (GDPR, CCPA, отраслевые стандарты) через шифрование, контроль доступа, журналы аудита и политики хранения.</a:t>
            </a:r>
          </a:p>
          <a:p>
            <a:pPr>
              <a:spcAft>
                <a:spcPts val="800"/>
              </a:spcAft>
            </a:pPr>
            <a:r>
              <a:rPr sz="1200" b="0" i="0">
                <a:solidFill>
                  <a:srgbClr val="142033"/>
                </a:solidFill>
                <a:latin typeface="Arial"/>
              </a:rPr>
              <a:t>• </a:t>
            </a:r>
            <a:r>
              <a:rPr sz="1200" b="0" i="0">
                <a:solidFill>
                  <a:srgbClr val="142033"/>
                </a:solidFill>
                <a:latin typeface="Arial"/>
              </a:rPr>
              <a:t>непрерывный мониторинг качества данных и производительности pipelines (lag, свежесть, использование ресурсов).</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разместить слева диаграмму слоёв (вертикальная схема), справа – список лучших практик с иконками (щит для безопасности, робот для augmented analytics и т.д.).</a:t>
            </a:r>
          </a:p>
          <a:p>
            <a:pPr>
              <a:spcAft>
                <a:spcPts val="800"/>
              </a:spcAft>
            </a:pPr>
            <a:r>
              <a:rPr sz="1200" b="0" i="0">
                <a:solidFill>
                  <a:srgbClr val="142033"/>
                </a:solidFill>
                <a:latin typeface="Arial"/>
              </a:rPr>
              <a:t>• </a:t>
            </a:r>
            <a:r>
              <a:rPr sz="1200" b="0" i="0">
                <a:solidFill>
                  <a:srgbClr val="142033"/>
                </a:solidFill>
                <a:latin typeface="Arial"/>
              </a:rPr>
              <a:t>Слайд 5: Внедрение BI по шагам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1: Оценка готовности и формулирование целей</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провести инвентаризацию источников данных, оценить их качество, частоту обновления, доступность</a:t>
            </a:r>
          </a:p>
          <a:p>
            <a:pPr>
              <a:spcAft>
                <a:spcPts val="800"/>
              </a:spcAft>
            </a:pPr>
            <a:r>
              <a:rPr sz="1200" b="0" i="0">
                <a:solidFill>
                  <a:srgbClr val="142033"/>
                </a:solidFill>
                <a:latin typeface="Arial"/>
              </a:rPr>
              <a:t>• </a:t>
            </a:r>
            <a:r>
              <a:rPr sz="1200" b="0" i="0">
                <a:solidFill>
                  <a:srgbClr val="142033"/>
                </a:solidFill>
                <a:latin typeface="Arial"/>
              </a:rPr>
              <a:t>определить конкретные измеримые бизнес‑цели (например, сократить время подготовки месячной отчетности с 5 дней до 4 часов, увеличить кросс‑продажи на 10 % за год за счет анализа поведения клиентов)</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2: Проектирование архитектуры</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выбрать тип решения (корпоративное хранилище данных, витрины для отдельных подразделений, гибридное озеро + склад)</a:t>
            </a:r>
          </a:p>
          <a:p>
            <a:pPr>
              <a:spcAft>
                <a:spcPts val="800"/>
              </a:spcAft>
            </a:pPr>
            <a:r>
              <a:rPr sz="1200" b="0" i="0">
                <a:solidFill>
                  <a:srgbClr val="142033"/>
                </a:solidFill>
                <a:latin typeface="Arial"/>
              </a:rPr>
              <a:t>• </a:t>
            </a:r>
            <a:r>
              <a:rPr sz="1200" b="0" i="0">
                <a:solidFill>
                  <a:srgbClr val="142033"/>
                </a:solidFill>
                <a:latin typeface="Arial"/>
              </a:rPr>
              <a:t>определить стек технологий: инструменты ETL (Informatica, Talend, Azure Data Factory, Apache NiFi), хранилища (Snowflake, Redshift, BigQuery, Azure Synapse, PostgreSQL), OLAP (SSAS, Apache Kylin), визуализация (Power BI, Tableau, Qlik Sense, Looker), платформы ML (Databricks, SageMaker, Azure ML)</a:t>
            </a:r>
          </a:p>
          <a:p>
            <a:pPr>
              <a:spcAft>
                <a:spcPts val="800"/>
              </a:spcAft>
            </a:pPr>
            <a:r>
              <a:rPr sz="1200" b="0" i="0">
                <a:solidFill>
                  <a:srgbClr val="142033"/>
                </a:solidFill>
                <a:latin typeface="Arial"/>
              </a:rPr>
              <a:t>• </a:t>
            </a:r>
            <a:r>
              <a:rPr sz="1200" b="0" i="0">
                <a:solidFill>
                  <a:srgbClr val="142033"/>
                </a:solidFill>
                <a:latin typeface="Arial"/>
              </a:rPr>
              <a:t>продумать модель безопасности: роли, права доступа, шифрование данных в покое и в движении, журналы аудита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3: Реализация пилотного проекта</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выбрать use case с высокой бизнес‑ценностью и относительно простым доступом к данным (например, анализ продаж по регионам или прогноз оттока клиентов)</a:t>
            </a:r>
          </a:p>
          <a:p>
            <a:pPr>
              <a:spcAft>
                <a:spcPts val="800"/>
              </a:spcAft>
            </a:pPr>
            <a:r>
              <a:rPr sz="1200" b="0" i="0">
                <a:solidFill>
                  <a:srgbClr val="142033"/>
                </a:solidFill>
                <a:latin typeface="Arial"/>
              </a:rPr>
              <a:t>• </a:t>
            </a:r>
            <a:r>
              <a:rPr sz="1200" b="0" i="0">
                <a:solidFill>
                  <a:srgbClr val="142033"/>
                </a:solidFill>
                <a:latin typeface="Arial"/>
              </a:rPr>
              <a:t>собрать кросс‑функциональную команду: бизнес‑аналитик, инженер данных, аналитик данных, представитель ИТ, владелец процесса</a:t>
            </a:r>
          </a:p>
          <a:p>
            <a:pPr>
              <a:spcAft>
                <a:spcPts val="800"/>
              </a:spcAft>
            </a:pPr>
            <a:r>
              <a:rPr sz="1200" b="0" i="0">
                <a:solidFill>
                  <a:srgbClr val="142033"/>
                </a:solidFill>
                <a:latin typeface="Arial"/>
              </a:rPr>
              <a:t>• </a:t>
            </a:r>
            <a:r>
              <a:rPr sz="1200" b="0" i="0">
                <a:solidFill>
                  <a:srgbClr val="142033"/>
                </a:solidFill>
                <a:latin typeface="Arial"/>
              </a:rPr>
              <a:t>построить ETL пайплайн для выбранных источников, создать витрину данных, разработать прототип дашбордов и отчетов</a:t>
            </a:r>
          </a:p>
          <a:p>
            <a:pPr>
              <a:spcAft>
                <a:spcPts val="800"/>
              </a:spcAft>
            </a:pPr>
            <a:r>
              <a:rPr sz="1200" b="0" i="0">
                <a:solidFill>
                  <a:srgbClr val="142033"/>
                </a:solidFill>
                <a:latin typeface="Arial"/>
              </a:rPr>
              <a:t>• </a:t>
            </a:r>
            <a:r>
              <a:rPr sz="1200" b="0" i="0">
                <a:solidFill>
                  <a:srgbClr val="142033"/>
                </a:solidFill>
                <a:latin typeface="Arial"/>
              </a:rPr>
              <a:t>провести тестирование с конечными пользователями, собрать обратную связь, скорректировать модель данных и визуализации</a:t>
            </a:r>
          </a:p>
          <a:p>
            <a:pPr>
              <a:spcAft>
                <a:spcPts val="800"/>
              </a:spcAft>
            </a:pPr>
            <a:r>
              <a:rPr sz="1200" b="0" i="0">
                <a:solidFill>
                  <a:srgbClr val="142033"/>
                </a:solidFill>
                <a:latin typeface="Arial"/>
              </a:rPr>
              <a:t>• </a:t>
            </a:r>
            <a:r>
              <a:rPr sz="1200" b="0" i="0">
                <a:solidFill>
                  <a:srgbClr val="142033"/>
                </a:solidFill>
                <a:latin typeface="Arial"/>
              </a:rPr>
              <a:t>измерить результаты по согласованным KPI (время подготовки отчета, точность прогноза, степень удовлетворенности пользователей)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4: Масштабирование и внедрение в производство</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на основе успеха пилота утвердить дорожную карту расширения: добавить новые источники данных, увеличить количество витрин, расширить круг пользователей</a:t>
            </a:r>
          </a:p>
          <a:p>
            <a:pPr>
              <a:spcAft>
                <a:spcPts val="800"/>
              </a:spcAft>
            </a:pPr>
            <a:r>
              <a:rPr sz="1200" b="0" i="0">
                <a:solidFill>
                  <a:srgbClr val="142033"/>
                </a:solidFill>
                <a:latin typeface="Arial"/>
              </a:rPr>
              <a:t>• </a:t>
            </a:r>
            <a:r>
              <a:rPr sz="1200" b="0" i="0">
                <a:solidFill>
                  <a:srgbClr val="142033"/>
                </a:solidFill>
                <a:latin typeface="Arial"/>
              </a:rPr>
              <a:t>внедрить процессы управления изменениями: обучение конечных пользователей, создание документации и FAQ, establishment службы поддержки и helpdesk</a:t>
            </a:r>
          </a:p>
          <a:p>
            <a:pPr>
              <a:spcAft>
                <a:spcPts val="800"/>
              </a:spcAft>
            </a:pPr>
            <a:r>
              <a:rPr sz="1200" b="0" i="0">
                <a:solidFill>
                  <a:srgbClr val="142033"/>
                </a:solidFill>
                <a:latin typeface="Arial"/>
              </a:rPr>
              <a:t>• </a:t>
            </a:r>
            <a:r>
              <a:rPr sz="1200" b="0" i="0">
                <a:solidFill>
                  <a:srgbClr val="142033"/>
                </a:solidFill>
                <a:latin typeface="Arial"/>
              </a:rPr>
              <a:t>установить механизмы мониторинга: контроль свежести данных, отслеживание времени выполнения ETL, метрики использования дашбордов, оповещения об аномалиях</a:t>
            </a:r>
          </a:p>
          <a:p>
            <a:pPr>
              <a:spcAft>
                <a:spcPts val="800"/>
              </a:spcAft>
            </a:pPr>
            <a:r>
              <a:rPr sz="1200" b="0" i="0">
                <a:solidFill>
                  <a:srgbClr val="142033"/>
                </a:solidFill>
                <a:latin typeface="Arial"/>
              </a:rPr>
              <a:t>• </a:t>
            </a:r>
            <a:r>
              <a:rPr sz="1200" b="0" i="0">
                <a:solidFill>
                  <a:srgbClr val="142033"/>
                </a:solidFill>
                <a:latin typeface="Arial"/>
              </a:rPr>
              <a:t>обеспечить соответствие регулятивным требованиям: настройка ролей, шифрование, политики хранения и удаления данных, регулярные аудиты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5: Поддержка, оптимизация и эволюция</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перейти к режиму постоянной эксплуатации: регулярные обновления ETL‑процессов, добавление новых источников, оптимизация запросов и агрегаций</a:t>
            </a:r>
          </a:p>
          <a:p>
            <a:pPr>
              <a:spcAft>
                <a:spcPts val="800"/>
              </a:spcAft>
            </a:pPr>
            <a:r>
              <a:rPr sz="1200" b="0" i="0">
                <a:solidFill>
                  <a:srgbClr val="142033"/>
                </a:solidFill>
                <a:latin typeface="Arial"/>
              </a:rPr>
              <a:t>• </a:t>
            </a:r>
            <a:r>
              <a:rPr sz="1200" b="0" i="0">
                <a:solidFill>
                  <a:srgbClr val="142033"/>
                </a:solidFill>
                <a:latin typeface="Arial"/>
              </a:rPr>
              <a:t>развивать самообслуживание: предоставить бизнес‑пользователям доступ к подготовленным наборам данных и инструментам визуализации с управлением метаданными</a:t>
            </a:r>
          </a:p>
          <a:p>
            <a:pPr>
              <a:spcAft>
                <a:spcPts val="800"/>
              </a:spcAft>
            </a:pPr>
            <a:r>
              <a:rPr sz="1200" b="0" i="0">
                <a:solidFill>
                  <a:srgbClr val="142033"/>
                </a:solidFill>
                <a:latin typeface="Arial"/>
              </a:rPr>
              <a:t>• </a:t>
            </a:r>
            <a:r>
              <a:rPr sz="1200" b="0" i="0">
                <a:solidFill>
                  <a:srgbClr val="142033"/>
                </a:solidFill>
                <a:latin typeface="Arial"/>
              </a:rPr>
              <a:t>интегрировать продвинутую аналитику и ИИ: добавить предиктивные модели, автоматическое обнаружение аномалий, естественно‑языковые запросы (например, через Copilot в Power BI)</a:t>
            </a:r>
          </a:p>
          <a:p>
            <a:pPr>
              <a:spcAft>
                <a:spcPts val="800"/>
              </a:spcAft>
            </a:pPr>
            <a:r>
              <a:rPr sz="1200" b="0" i="0">
                <a:solidFill>
                  <a:srgbClr val="142033"/>
                </a:solidFill>
                <a:latin typeface="Arial"/>
              </a:rPr>
              <a:t>• </a:t>
            </a:r>
            <a:r>
              <a:rPr sz="1200" b="0" i="0">
                <a:solidFill>
                  <a:srgbClr val="142033"/>
                </a:solidFill>
                <a:latin typeface="Arial"/>
              </a:rPr>
              <a:t>периодически пересматривать KPI и бизнес‑цели, корректировать дорожную карту на основе полученных результатов</a:t>
            </a:r>
          </a:p>
          <a:p>
            <a:pPr>
              <a:spcAft>
                <a:spcPts val="800"/>
              </a:spcAft>
            </a:pPr>
            <a:r>
              <a:rPr sz="1200" b="0" i="0">
                <a:solidFill>
                  <a:srgbClr val="142033"/>
                </a:solidFill>
                <a:latin typeface="Arial"/>
              </a:rPr>
              <a:t>• </a:t>
            </a:r>
            <a:r>
              <a:rPr sz="1200" b="0" i="0">
                <a:solidFill>
                  <a:srgbClr val="142033"/>
                </a:solidFill>
                <a:latin typeface="Arial"/>
              </a:rPr>
              <a:t>оценивать ROI: сравнение инвестиций в инфраструктуру и лицензии с измеренной выгодой (экономия времени, рост выручки, снижение издержек)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5: Поддержка, оптимизация и эволюция (продолжение 2)</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оформить каждый шаг как numbered блок с небольшой иконкой (например, флаг для шага 1, чертеж для шага 2, колба для шага 3, ракета для шага 4, шестерёнка с графиком для шага 5).</a:t>
            </a:r>
          </a:p>
          <a:p>
            <a:pPr>
              <a:spcAft>
                <a:spcPts val="800"/>
              </a:spcAft>
            </a:pPr>
            <a:r>
              <a:rPr sz="1200" b="0" i="0">
                <a:solidFill>
                  <a:srgbClr val="142033"/>
                </a:solidFill>
                <a:latin typeface="Arial"/>
              </a:rPr>
              <a:t>• </a:t>
            </a:r>
            <a:r>
              <a:rPr sz="1200" b="0" i="0">
                <a:solidFill>
                  <a:srgbClr val="142033"/>
                </a:solidFill>
                <a:latin typeface="Arial"/>
              </a:rPr>
              <a:t>Слайд 6: История термина</a:t>
            </a:r>
          </a:p>
          <a:p>
            <a:pPr>
              <a:spcAft>
                <a:spcPts val="800"/>
              </a:spcAft>
            </a:pPr>
            <a:r>
              <a:rPr sz="1200" b="0" i="0">
                <a:solidFill>
                  <a:srgbClr val="142033"/>
                </a:solidFill>
                <a:latin typeface="Arial"/>
              </a:rPr>
              <a:t>• </a:t>
            </a:r>
            <a:r>
              <a:rPr sz="1200" b="0" i="0">
                <a:solidFill>
                  <a:srgbClr val="142033"/>
                </a:solidFill>
                <a:latin typeface="Arial"/>
              </a:rPr>
              <a:t>Первое упоминание термина «business intelligence» относится к 1865 году в труде Ричарда Милларда Девенса «Cyclopaedia of Commercial and Business Anecdotes», где описывается, как банкир сэр Генри Фурнис использовал своевременную информацию о событиях для получения прибыли.</a:t>
            </a:r>
          </a:p>
          <a:p>
            <a:pPr>
              <a:spcAft>
                <a:spcPts val="800"/>
              </a:spcAft>
            </a:pPr>
            <a:r>
              <a:rPr sz="1200" b="0" i="0">
                <a:solidFill>
                  <a:srgbClr val="142033"/>
                </a:solidFill>
                <a:latin typeface="Arial"/>
              </a:rPr>
              <a:t>• </a:t>
            </a:r>
            <a:r>
              <a:rPr sz="1200" b="0" i="0">
                <a:solidFill>
                  <a:srgbClr val="142033"/>
                </a:solidFill>
                <a:latin typeface="Arial"/>
              </a:rPr>
              <a:t>В 1958 году Ханс Петер Лун из IBM использовал термин в статье «A Business Intelligence System», определяя бизнес‑интеллект как способность улавливать взаимосвязи представленных фактов для направления действий к желаемой цели.</a:t>
            </a:r>
          </a:p>
          <a:p>
            <a:pPr>
              <a:spcAft>
                <a:spcPts val="800"/>
              </a:spcAft>
            </a:pPr>
            <a:r>
              <a:rPr sz="1200" b="0" i="0">
                <a:solidFill>
                  <a:srgbClr val="142033"/>
                </a:solidFill>
                <a:latin typeface="Arial"/>
              </a:rPr>
              <a:t>• </a:t>
            </a:r>
            <a:r>
              <a:rPr sz="1200" b="0" i="0">
                <a:solidFill>
                  <a:srgbClr val="142033"/>
                </a:solidFill>
                <a:latin typeface="Arial"/>
              </a:rPr>
              <a:t>В 1989 году Говард Дреснер (позже аналитик Gartner) ввел бизнес‑интеллект как зонтичный термин для концепций и методов улучшения управленческих решений на основе фактических систем поддержки.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5: Поддержка, оптимизация и эволюция (продолжение 3)</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В конце 1990‑х – начале 2000‑х годов термин получил широкое распространение благодаря внедрению первых корпоративных data warehouse и специализированных BI‑платформ (Teradata, Oracle, IBM).</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разместить горизонтальную линию времени с отмеченными годами и краткими подписями (иконка книги/статьи для каждого пункта).</a:t>
            </a:r>
          </a:p>
          <a:p>
            <a:pPr>
              <a:spcAft>
                <a:spcPts val="800"/>
              </a:spcAft>
            </a:pPr>
            <a:r>
              <a:rPr sz="1200" b="0" i="0">
                <a:solidFill>
                  <a:srgbClr val="142033"/>
                </a:solidFill>
                <a:latin typeface="Arial"/>
              </a:rPr>
              <a:t>• </a:t>
            </a:r>
            <a:r>
              <a:rPr sz="1200" b="0" i="0">
                <a:solidFill>
                  <a:srgbClr val="142033"/>
                </a:solidFill>
                <a:latin typeface="Arial"/>
              </a:rPr>
              <a:t>Слайд 7: Развитие практик</a:t>
            </a:r>
          </a:p>
          <a:p>
            <a:pPr>
              <a:spcAft>
                <a:spcPts val="800"/>
              </a:spcAft>
            </a:pPr>
            <a:r>
              <a:rPr sz="1200" b="0" i="0">
                <a:solidFill>
                  <a:srgbClr val="142033"/>
                </a:solidFill>
                <a:latin typeface="Arial"/>
              </a:rPr>
              <a:t>• </a:t>
            </a:r>
            <a:r>
              <a:rPr sz="1200" b="1" i="0">
                <a:solidFill>
                  <a:srgbClr val="142033"/>
                </a:solidFill>
                <a:latin typeface="Arial"/>
              </a:rPr>
              <a:t>Эпоха МИС (Management Information Systems):</a:t>
            </a:r>
            <a:r>
              <a:rPr sz="1200" b="0" i="0">
                <a:solidFill>
                  <a:srgbClr val="142033"/>
                </a:solidFill>
                <a:latin typeface="Arial"/>
              </a:rPr>
              <a:t>преобладали статические отчеты и ад‑hoc запросы, фокус на оперативную отчетность и контроль выполнения планов.</a:t>
            </a:r>
          </a:p>
          <a:p>
            <a:pPr>
              <a:spcAft>
                <a:spcPts val="800"/>
              </a:spcAft>
            </a:pPr>
            <a:r>
              <a:rPr sz="1200" b="0" i="0">
                <a:solidFill>
                  <a:srgbClr val="142033"/>
                </a:solidFill>
                <a:latin typeface="Arial"/>
              </a:rPr>
              <a:t>• </a:t>
            </a:r>
            <a:r>
              <a:rPr sz="1200" b="1" i="0">
                <a:solidFill>
                  <a:srgbClr val="142033"/>
                </a:solidFill>
                <a:latin typeface="Arial"/>
              </a:rPr>
              <a:t>1990‑е годы:</a:t>
            </a:r>
            <a:r>
              <a:rPr sz="1200" b="0" i="0">
                <a:solidFill>
                  <a:srgbClr val="142033"/>
                </a:solidFill>
                <a:latin typeface="Arial"/>
              </a:rPr>
              <a:t>массовое внедрение data warehouse, OLAP‑кубов, multidimensional анализ; появление понятий data mart, OLAP, начало использования KPI и систем измерения эффективности.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5: Поддержка, оптимизация и эволюция (продолжение 4)</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1" i="0">
                <a:solidFill>
                  <a:srgbClr val="142033"/>
                </a:solidFill>
                <a:latin typeface="Arial"/>
              </a:rPr>
              <a:t>Начало 2000‑х:</a:t>
            </a:r>
            <a:r>
              <a:rPr sz="1200" b="0" i="0">
                <a:solidFill>
                  <a:srgbClr val="142033"/>
                </a:solidFill>
                <a:latin typeface="Arial"/>
              </a:rPr>
              <a:t>распространение balanced scorecard, систем управления эффективностью, формирование центров компетенции по BI (BICC) для стандартизации и обучения пользователей.</a:t>
            </a:r>
          </a:p>
          <a:p>
            <a:pPr>
              <a:spcAft>
                <a:spcPts val="800"/>
              </a:spcAft>
            </a:pPr>
            <a:r>
              <a:rPr sz="1200" b="0" i="0">
                <a:solidFill>
                  <a:srgbClr val="142033"/>
                </a:solidFill>
                <a:latin typeface="Arial"/>
              </a:rPr>
              <a:t>• </a:t>
            </a:r>
            <a:r>
              <a:rPr sz="1200" b="1" i="0">
                <a:solidFill>
                  <a:srgbClr val="142033"/>
                </a:solidFill>
                <a:latin typeface="Arial"/>
              </a:rPr>
              <a:t>Середина 2000‑х:</a:t>
            </a:r>
            <a:r>
              <a:rPr sz="1200" b="0" i="0">
                <a:solidFill>
                  <a:srgbClr val="142033"/>
                </a:solidFill>
                <a:latin typeface="Arial"/>
              </a:rPr>
              <a:t>рост самообслуживающего BI, появление инструментов визуализации, ориентированных на бизнес‑пользователей (Tableau основана 2003, QlikView 1993 но массовое采用 позже, Power BI 2015).</a:t>
            </a:r>
          </a:p>
          <a:p>
            <a:pPr>
              <a:spcAft>
                <a:spcPts val="800"/>
              </a:spcAft>
            </a:pPr>
            <a:r>
              <a:rPr sz="1200" b="0" i="0">
                <a:solidFill>
                  <a:srgbClr val="142033"/>
                </a:solidFill>
                <a:latin typeface="Arial"/>
              </a:rPr>
              <a:t>• </a:t>
            </a:r>
            <a:r>
              <a:rPr sz="1200" b="1" i="0">
                <a:solidFill>
                  <a:srgbClr val="142033"/>
                </a:solidFill>
                <a:latin typeface="Arial"/>
              </a:rPr>
              <a:t>2010‑е годы:</a:t>
            </a:r>
            <a:r>
              <a:rPr sz="1200" b="0" i="0">
                <a:solidFill>
                  <a:srgbClr val="142033"/>
                </a:solidFill>
                <a:latin typeface="Arial"/>
              </a:rPr>
              <a:t>интеграция больших данных, работа с данными озерами (data lake), Hadoop, Spark; рост интереса к data discovery, data preparation и работе с неструктурированными данными (текст, логи, соцсети).</a:t>
            </a:r>
          </a:p>
          <a:p>
            <a:pPr>
              <a:spcAft>
                <a:spcPts val="800"/>
              </a:spcAft>
            </a:pPr>
            <a:r>
              <a:rPr sz="1200" b="0" i="0">
                <a:solidFill>
                  <a:srgbClr val="142033"/>
                </a:solidFill>
                <a:latin typeface="Arial"/>
              </a:rPr>
              <a:t>• </a:t>
            </a:r>
            <a:r>
              <a:rPr sz="1200" b="1" i="0">
                <a:solidFill>
                  <a:srgbClr val="142033"/>
                </a:solidFill>
                <a:latin typeface="Arial"/>
              </a:rPr>
              <a:t>Конец 2010‑х – настоящее время:</a:t>
            </a:r>
            <a:r>
              <a:rPr sz="1200" b="0" i="0">
                <a:solidFill>
                  <a:srgbClr val="142033"/>
                </a:solidFill>
                <a:latin typeface="Arial"/>
              </a:rPr>
              <a:t>augmented analytics (автоматическое выявление инсайтов, объяснение причин изменения метрик, естественно‑языковые интерфейсы), внедрение машинного обучения и ИИ в BI‑платформы, рост аналитики в реальном времени и stream processing.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5: Поддержка, оптимизация и эволюция (продолжение 5)</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1" i="0">
                <a:solidFill>
                  <a:srgbClr val="142033"/>
                </a:solidFill>
                <a:latin typeface="Arial"/>
              </a:rPr>
              <a:t>Современные тренды:</a:t>
            </a:r>
            <a:r>
              <a:rPr sz="1200" b="0" i="0">
                <a:solidFill>
                  <a:srgbClr val="142033"/>
                </a:solidFill>
                <a:latin typeface="Arial"/>
              </a:rPr>
              <a:t>data mesh, data fabric, data observability, управляемый доступ к данным как продукт, встраиваемая аналитика (embedded analytics) в SaaS‑приложения, расширение использования метаданного каталога и lineage tracking.</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использовать таблицу или инфографику с двумя колонками – «Эпоха» и «Ключевые практики», каждая строка сопровождается небольшой иСлайд 1: Титульный</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разместить логотип компании в левом верхнем углу, справа – визуальную метафору «данные → решения» (например, иконку воронки или схему потока данных). Использовать крупный шрифт для заголовка, меньший – для подзаголовков.</a:t>
            </a:r>
          </a:p>
          <a:p>
            <a:pPr>
              <a:spcAft>
                <a:spcPts val="800"/>
              </a:spcAft>
            </a:pPr>
            <a:r>
              <a:rPr sz="1200" b="0" i="0">
                <a:solidFill>
                  <a:srgbClr val="142033"/>
                </a:solidFill>
                <a:latin typeface="Arial"/>
              </a:rPr>
              <a:t>• </a:t>
            </a:r>
            <a:r>
              <a:rPr sz="1200" b="0" i="0">
                <a:solidFill>
                  <a:srgbClr val="142033"/>
                </a:solidFill>
                <a:latin typeface="Arial"/>
              </a:rPr>
              <a:t>Слайд 2: Определение BI</a:t>
            </a:r>
            <a:r>
              <a:rPr sz="1200" b="1" i="0">
                <a:solidFill>
                  <a:srgbClr val="142033"/>
                </a:solidFill>
                <a:latin typeface="Arial"/>
              </a:rPr>
              <a:t>Бизнес‑интеллект</a:t>
            </a:r>
            <a:r>
              <a:rPr sz="1200" b="0" i="0">
                <a:solidFill>
                  <a:srgbClr val="142033"/>
                </a:solidFill>
                <a:latin typeface="Arial"/>
              </a:rPr>
              <a:t>– это комплекс методологий, процессов, архитектур и технологий, направленных на сбор, хранение, обработку и анализ данных с целью преобразования их в полезную информацию для поддержки принятия решений.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Ключевые элементы BI</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источники данных (операционные системы, внешние базы, файлы, потоки)</a:t>
            </a:r>
          </a:p>
          <a:p>
            <a:pPr>
              <a:spcAft>
                <a:spcPts val="800"/>
              </a:spcAft>
            </a:pPr>
            <a:r>
              <a:rPr sz="1200" b="0" i="0">
                <a:solidFill>
                  <a:srgbClr val="142033"/>
                </a:solidFill>
                <a:latin typeface="Arial"/>
              </a:rPr>
              <a:t>• </a:t>
            </a:r>
            <a:r>
              <a:rPr sz="1200" b="0" i="0">
                <a:solidFill>
                  <a:srgbClr val="142033"/>
                </a:solidFill>
                <a:latin typeface="Arial"/>
              </a:rPr>
              <a:t>слой интеграции (ETL/ELT, очистка, трансформация, загрузка)</a:t>
            </a:r>
          </a:p>
          <a:p>
            <a:pPr>
              <a:spcAft>
                <a:spcPts val="800"/>
              </a:spcAft>
            </a:pPr>
            <a:r>
              <a:rPr sz="1200" b="0" i="0">
                <a:solidFill>
                  <a:srgbClr val="142033"/>
                </a:solidFill>
                <a:latin typeface="Arial"/>
              </a:rPr>
              <a:t>• </a:t>
            </a:r>
            <a:r>
              <a:rPr sz="1200" b="0" i="0">
                <a:solidFill>
                  <a:srgbClr val="142033"/>
                </a:solidFill>
                <a:latin typeface="Arial"/>
              </a:rPr>
              <a:t>слой хранения (data warehouse, data mart, data lake, озеро данных)</a:t>
            </a:r>
          </a:p>
          <a:p>
            <a:pPr>
              <a:spcAft>
                <a:spcPts val="800"/>
              </a:spcAft>
            </a:pPr>
            <a:r>
              <a:rPr sz="1200" b="0" i="0">
                <a:solidFill>
                  <a:srgbClr val="142033"/>
                </a:solidFill>
                <a:latin typeface="Arial"/>
              </a:rPr>
              <a:t>• </a:t>
            </a:r>
            <a:r>
              <a:rPr sz="1200" b="0" i="0">
                <a:solidFill>
                  <a:srgbClr val="142033"/>
                </a:solidFill>
                <a:latin typeface="Arial"/>
              </a:rPr>
              <a:t>слой семантической модели (бизнес‑глоссарий, онтологии, метаданные)</a:t>
            </a:r>
          </a:p>
          <a:p>
            <a:pPr>
              <a:spcAft>
                <a:spcPts val="800"/>
              </a:spcAft>
            </a:pPr>
            <a:r>
              <a:rPr sz="1200" b="0" i="0">
                <a:solidFill>
                  <a:srgbClr val="142033"/>
                </a:solidFill>
                <a:latin typeface="Arial"/>
              </a:rPr>
              <a:t>• </a:t>
            </a:r>
            <a:r>
              <a:rPr sz="1200" b="0" i="0">
                <a:solidFill>
                  <a:srgbClr val="142033"/>
                </a:solidFill>
                <a:latin typeface="Arial"/>
              </a:rPr>
              <a:t>слой аналитики (отчетность, OLAP, data mining, статистический анализ, машинное обучение)</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Ключевые элементы BI (продолжение 2)</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слой визуализации и доступа (дашборды, интерактивные отчеты, self‑service порталы, мобильные приложения)</a:t>
            </a:r>
          </a:p>
          <a:p>
            <a:pPr>
              <a:spcAft>
                <a:spcPts val="800"/>
              </a:spcAft>
            </a:pPr>
            <a:r>
              <a:rPr sz="1200" b="0" i="0">
                <a:solidFill>
                  <a:srgbClr val="142033"/>
                </a:solidFill>
                <a:latin typeface="Arial"/>
              </a:rPr>
              <a:t>• </a:t>
            </a:r>
            <a:r>
              <a:rPr sz="1200" b="0" i="0">
                <a:solidFill>
                  <a:srgbClr val="142033"/>
                </a:solidFill>
                <a:latin typeface="Arial"/>
              </a:rPr>
              <a:t>слой действий и мониторинга (KPI, оповещения, автоматические решения, обратная связь в бизнес‑процессы)</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слева разместить текстуальное определение и ключевые элементы, справа – вертикальную схему слоёв BI с иконками (база данных, труба ETL, хранилище, книга‑глоссарий, график, дашборд, шестерёнка). Под схемой добавить подпись «Архитектура BI».</a:t>
            </a:r>
          </a:p>
          <a:p>
            <a:pPr>
              <a:spcAft>
                <a:spcPts val="800"/>
              </a:spcAft>
            </a:pPr>
            <a:r>
              <a:rPr sz="1200" b="0" i="0">
                <a:solidFill>
                  <a:srgbClr val="142033"/>
                </a:solidFill>
                <a:latin typeface="Arial"/>
              </a:rPr>
              <a:t>• </a:t>
            </a:r>
            <a:r>
              <a:rPr sz="1200" b="0" i="0">
                <a:solidFill>
                  <a:srgbClr val="142033"/>
                </a:solidFill>
                <a:latin typeface="Arial"/>
              </a:rPr>
              <a:t>Слайд 3: Зачем нужно BI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Ключевые элементы BI (продолжение 3)</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Поддержка принятия решений на всех управленческих уровнях: от тактического (определение оптимального уровня запасов, корректировка ценовой политики) до стратегического (выбор новых рынков, определение долгосрочных инвестиций).</a:t>
            </a:r>
          </a:p>
          <a:p>
            <a:pPr>
              <a:spcAft>
                <a:spcPts val="800"/>
              </a:spcAft>
            </a:pPr>
            <a:r>
              <a:rPr sz="1200" b="0" i="0">
                <a:solidFill>
                  <a:srgbClr val="142033"/>
                </a:solidFill>
                <a:latin typeface="Arial"/>
              </a:rPr>
              <a:t>• </a:t>
            </a:r>
            <a:r>
              <a:rPr sz="1200" b="0" i="0">
                <a:solidFill>
                  <a:srgbClr val="142033"/>
                </a:solidFill>
                <a:latin typeface="Arial"/>
              </a:rPr>
              <a:t>Объединение внутренних и внешних данных создает единую картину бизнеса, недостижимую при анализе только одного типа источников.</a:t>
            </a:r>
          </a:p>
          <a:p>
            <a:pPr>
              <a:spcAft>
                <a:spcPts val="800"/>
              </a:spcAft>
            </a:pPr>
            <a:r>
              <a:rPr sz="1200" b="0" i="0">
                <a:solidFill>
                  <a:srgbClr val="142033"/>
                </a:solidFill>
                <a:latin typeface="Arial"/>
              </a:rPr>
              <a:t>• </a:t>
            </a:r>
            <a:r>
              <a:rPr sz="1200" b="0" i="0">
                <a:solidFill>
                  <a:srgbClr val="142033"/>
                </a:solidFill>
                <a:latin typeface="Arial"/>
              </a:rPr>
              <a:t>Выявление скрытых закономерностей и возможностей: сегментация клиентов, прогноз спроса, обнаружение мошенничества, оптимизация цепочек поставок.</a:t>
            </a:r>
          </a:p>
          <a:p>
            <a:pPr>
              <a:spcAft>
                <a:spcPts val="800"/>
              </a:spcAft>
            </a:pPr>
            <a:r>
              <a:rPr sz="1200" b="0" i="0">
                <a:solidFill>
                  <a:srgbClr val="142033"/>
                </a:solidFill>
                <a:latin typeface="Arial"/>
              </a:rPr>
              <a:t>• </a:t>
            </a:r>
            <a:r>
              <a:rPr sz="1200" b="0" i="0">
                <a:solidFill>
                  <a:srgbClr val="142033"/>
                </a:solidFill>
                <a:latin typeface="Arial"/>
              </a:rPr>
              <a:t>Повышение эффективности процессов: сокращение времени подготовки отчетов, уменьшение количества ошибок в данных, ускорение закрытия финансовых периодов.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Ключевые элементы BI (продолжение 4)</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Создание конкурентного преимущества: быстрее реагировать на изменения рынка, лучше понимать потребности клиентов, принимать обоснованные инвестиционные решения.</a:t>
            </a:r>
          </a:p>
          <a:p>
            <a:pPr>
              <a:spcAft>
                <a:spcPts val="800"/>
              </a:spcAft>
            </a:pPr>
            <a:r>
              <a:rPr sz="1200" b="0" i="0">
                <a:solidFill>
                  <a:srgbClr val="142033"/>
                </a:solidFill>
                <a:latin typeface="Arial"/>
              </a:rPr>
              <a:t>• </a:t>
            </a:r>
            <a:r>
              <a:rPr sz="1200" b="0" i="0">
                <a:solidFill>
                  <a:srgbClr val="142033"/>
                </a:solidFill>
                <a:latin typeface="Arial"/>
              </a:rPr>
              <a:t>Измерение результатов: система KPI и сбалансированных показателей позволяет отслеживать выполнение стратегии и корректировать курс в реальном времени.</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каждый пункт оформить как отдельный блок с иконкой слева (например, шестерёнка – эффективность, рост график – конкурентное преимущество, щит – измерение результатов). Использовать одинаковый отступ и межстрочный интервал для визуальной однородности.</a:t>
            </a:r>
          </a:p>
          <a:p>
            <a:pPr>
              <a:spcAft>
                <a:spcPts val="800"/>
              </a:spcAft>
            </a:pPr>
            <a:r>
              <a:rPr sz="1200" b="0" i="0">
                <a:solidFill>
                  <a:srgbClr val="142033"/>
                </a:solidFill>
                <a:latin typeface="Arial"/>
              </a:rPr>
              <a:t>• </a:t>
            </a:r>
            <a:r>
              <a:rPr sz="1200" b="0" i="0">
                <a:solidFill>
                  <a:srgbClr val="142033"/>
                </a:solidFill>
                <a:latin typeface="Arial"/>
              </a:rPr>
              <a:t>Слайд 4: Как идеально применять BI (архитектура и лучшие практики)</a:t>
            </a:r>
            <a:r>
              <a:rPr sz="1200" b="1" i="0">
                <a:solidFill>
                  <a:srgbClr val="142033"/>
                </a:solidFill>
                <a:latin typeface="Arial"/>
              </a:rPr>
              <a:t>Архитектура BI</a:t>
            </a:r>
            <a:r>
              <a:rPr sz="1200" b="0" i="0">
                <a:solidFill>
                  <a:srgbClr val="142033"/>
                </a:solidFill>
                <a:latin typeface="Arial"/>
              </a:rPr>
              <a:t>строится вокруг принципа «одна версия правды»: все данные проходят через единый слой интеграции и хранения, обеспечивая согласованность и прослеживаемость.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Типовые слои</a:t>
            </a:r>
          </a:p>
        </p:txBody>
      </p:sp>
      <p:sp>
        <p:nvSpPr>
          <p:cNvPr id="4" name="TextBox 3"/>
          <p:cNvSpPr txBox="1"/>
          <p:nvPr/>
        </p:nvSpPr>
        <p:spPr>
          <a:xfrm>
            <a:off x="731520" y="1005840"/>
            <a:ext cx="4114800" cy="274320"/>
          </a:xfrm>
          <a:prstGeom prst="rect">
            <a:avLst/>
          </a:prstGeom>
          <a:noFill/>
        </p:spPr>
        <p:txBody>
          <a:bodyPr wrap="none">
            <a:spAutoFit/>
          </a:bodyPr>
          <a:lstStyle/>
          <a:p>
            <a:r>
              <a:rPr sz="1400" b="0" i="0">
                <a:solidFill>
                  <a:srgbClr val="667085"/>
                </a:solidFill>
                <a:latin typeface="Arial"/>
              </a:rPr>
              <a:t>Поэтапный план внедрения</a:t>
            </a:r>
          </a:p>
        </p:txBody>
      </p:sp>
      <p:cxnSp>
        <p:nvCxnSpPr>
          <p:cNvPr id="5" name="Connector 4"/>
          <p:cNvCxnSpPr/>
          <p:nvPr/>
        </p:nvCxnSpPr>
        <p:spPr>
          <a:xfrm>
            <a:off x="1371600" y="3154680"/>
            <a:ext cx="9418320" cy="0"/>
          </a:xfrm>
          <a:prstGeom prst="line">
            <a:avLst/>
          </a:prstGeom>
          <a:ln w="25400">
            <a:solidFill>
              <a:srgbClr val="2F6B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65376"/>
            <a:ext cx="201168" cy="137160"/>
          </a:xfrm>
          <a:prstGeom prst="rect">
            <a:avLst/>
          </a:prstGeom>
          <a:noFill/>
        </p:spPr>
        <p:txBody>
          <a:bodyPr wrap="none">
            <a:spAutoFit/>
          </a:bodyPr>
          <a:lstStyle/>
          <a:p>
            <a:r>
              <a:rPr sz="900" b="1" i="0">
                <a:solidFill>
                  <a:srgbClr val="FFFFFF"/>
                </a:solidFill>
                <a:latin typeface="Arial"/>
              </a:rPr>
              <a:t>1</a:t>
            </a:r>
          </a:p>
        </p:txBody>
      </p:sp>
      <p:sp>
        <p:nvSpPr>
          <p:cNvPr id="9" name="TextBox 8"/>
          <p:cNvSpPr txBox="1"/>
          <p:nvPr/>
        </p:nvSpPr>
        <p:spPr>
          <a:xfrm>
            <a:off x="1005840" y="2240280"/>
            <a:ext cx="1828800" cy="1325880"/>
          </a:xfrm>
          <a:prstGeom prst="rect">
            <a:avLst/>
          </a:prstGeom>
          <a:noFill/>
        </p:spPr>
        <p:txBody>
          <a:bodyPr wrap="square">
            <a:spAutoFit/>
          </a:bodyPr>
          <a:lstStyle/>
          <a:p>
            <a:r>
              <a:rPr sz="1200" b="0" i="0">
                <a:solidFill>
                  <a:srgbClr val="142033"/>
                </a:solidFill>
                <a:latin typeface="Arial"/>
              </a:rPr>
              <a:t>Вход – сбор данных из ERP, CRM, систем логирования, внешних API, файлов, потоков.</a:t>
            </a:r>
          </a:p>
        </p:txBody>
      </p:sp>
      <p:sp>
        <p:nvSpPr>
          <p:cNvPr id="10" name="Rounded Rectangle 9"/>
          <p:cNvSpPr/>
          <p:nvPr/>
        </p:nvSpPr>
        <p:spPr>
          <a:xfrm>
            <a:off x="35661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033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865376"/>
            <a:ext cx="201168" cy="137160"/>
          </a:xfrm>
          <a:prstGeom prst="rect">
            <a:avLst/>
          </a:prstGeom>
          <a:noFill/>
        </p:spPr>
        <p:txBody>
          <a:bodyPr wrap="none">
            <a:spAutoFit/>
          </a:bodyPr>
          <a:lstStyle/>
          <a:p>
            <a:r>
              <a:rPr sz="900" b="1" i="0">
                <a:solidFill>
                  <a:srgbClr val="FFFFFF"/>
                </a:solidFill>
                <a:latin typeface="Arial"/>
              </a:rPr>
              <a:t>2</a:t>
            </a:r>
          </a:p>
        </p:txBody>
      </p:sp>
      <p:sp>
        <p:nvSpPr>
          <p:cNvPr id="13" name="TextBox 12"/>
          <p:cNvSpPr txBox="1"/>
          <p:nvPr/>
        </p:nvSpPr>
        <p:spPr>
          <a:xfrm>
            <a:off x="3749039" y="2240280"/>
            <a:ext cx="1828800" cy="1325880"/>
          </a:xfrm>
          <a:prstGeom prst="rect">
            <a:avLst/>
          </a:prstGeom>
          <a:noFill/>
        </p:spPr>
        <p:txBody>
          <a:bodyPr wrap="square">
            <a:spAutoFit/>
          </a:bodyPr>
          <a:lstStyle/>
          <a:p>
            <a:r>
              <a:rPr sz="1200" b="0" i="0">
                <a:solidFill>
                  <a:srgbClr val="142033"/>
                </a:solidFill>
                <a:latin typeface="Arial"/>
              </a:rPr>
              <a:t>Интеграция – ETL/ELT процессы с профилированием, очисткой, дедупликацией, обогащением справочниками.</a:t>
            </a:r>
          </a:p>
        </p:txBody>
      </p:sp>
      <p:sp>
        <p:nvSpPr>
          <p:cNvPr id="14" name="Rounded Rectangle 13"/>
          <p:cNvSpPr/>
          <p:nvPr/>
        </p:nvSpPr>
        <p:spPr>
          <a:xfrm>
            <a:off x="63093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465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865376"/>
            <a:ext cx="201168" cy="137160"/>
          </a:xfrm>
          <a:prstGeom prst="rect">
            <a:avLst/>
          </a:prstGeom>
          <a:noFill/>
        </p:spPr>
        <p:txBody>
          <a:bodyPr wrap="none">
            <a:spAutoFit/>
          </a:bodyPr>
          <a:lstStyle/>
          <a:p>
            <a:r>
              <a:rPr sz="900" b="1" i="0">
                <a:solidFill>
                  <a:srgbClr val="FFFFFF"/>
                </a:solidFill>
                <a:latin typeface="Arial"/>
              </a:rPr>
              <a:t>3</a:t>
            </a:r>
          </a:p>
        </p:txBody>
      </p:sp>
      <p:sp>
        <p:nvSpPr>
          <p:cNvPr id="17" name="TextBox 16"/>
          <p:cNvSpPr txBox="1"/>
          <p:nvPr/>
        </p:nvSpPr>
        <p:spPr>
          <a:xfrm>
            <a:off x="6492240" y="2240280"/>
            <a:ext cx="1828800" cy="1325880"/>
          </a:xfrm>
          <a:prstGeom prst="rect">
            <a:avLst/>
          </a:prstGeom>
          <a:noFill/>
        </p:spPr>
        <p:txBody>
          <a:bodyPr wrap="square">
            <a:spAutoFit/>
          </a:bodyPr>
          <a:lstStyle/>
          <a:p>
            <a:r>
              <a:rPr sz="1200" b="0" i="0">
                <a:solidFill>
                  <a:srgbClr val="142033"/>
                </a:solidFill>
                <a:latin typeface="Arial"/>
              </a:rPr>
              <a:t>Хранилище – центральное хранилище данных (data warehouse) или тематические витрины (data mart), возможно дополненное озером данных для неструктурированной информации.</a:t>
            </a:r>
          </a:p>
        </p:txBody>
      </p:sp>
      <p:sp>
        <p:nvSpPr>
          <p:cNvPr id="18" name="Rounded Rectangle 17"/>
          <p:cNvSpPr/>
          <p:nvPr/>
        </p:nvSpPr>
        <p:spPr>
          <a:xfrm>
            <a:off x="90525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897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1865376"/>
            <a:ext cx="201168" cy="137160"/>
          </a:xfrm>
          <a:prstGeom prst="rect">
            <a:avLst/>
          </a:prstGeom>
          <a:noFill/>
        </p:spPr>
        <p:txBody>
          <a:bodyPr wrap="none">
            <a:spAutoFit/>
          </a:bodyPr>
          <a:lstStyle/>
          <a:p>
            <a:r>
              <a:rPr sz="900" b="1" i="0">
                <a:solidFill>
                  <a:srgbClr val="FFFFFF"/>
                </a:solidFill>
                <a:latin typeface="Arial"/>
              </a:rPr>
              <a:t>4</a:t>
            </a:r>
          </a:p>
        </p:txBody>
      </p:sp>
      <p:sp>
        <p:nvSpPr>
          <p:cNvPr id="21" name="TextBox 20"/>
          <p:cNvSpPr txBox="1"/>
          <p:nvPr/>
        </p:nvSpPr>
        <p:spPr>
          <a:xfrm>
            <a:off x="9235440" y="2240280"/>
            <a:ext cx="1828800" cy="1325880"/>
          </a:xfrm>
          <a:prstGeom prst="rect">
            <a:avLst/>
          </a:prstGeom>
          <a:noFill/>
        </p:spPr>
        <p:txBody>
          <a:bodyPr wrap="square">
            <a:spAutoFit/>
          </a:bodyPr>
          <a:lstStyle/>
          <a:p>
            <a:r>
              <a:rPr sz="1200" b="0" i="0">
                <a:solidFill>
                  <a:srgbClr val="142033"/>
                </a:solidFill>
                <a:latin typeface="Arial"/>
              </a:rPr>
              <a:t>Семантический слой – бизнес‑глоссарий, модели измерений и фактов, метаданные о lineage и качестве.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Типовые слои (этапы 2)</a:t>
            </a:r>
          </a:p>
        </p:txBody>
      </p:sp>
      <p:sp>
        <p:nvSpPr>
          <p:cNvPr id="4" name="TextBox 3"/>
          <p:cNvSpPr txBox="1"/>
          <p:nvPr/>
        </p:nvSpPr>
        <p:spPr>
          <a:xfrm>
            <a:off x="731520" y="1005840"/>
            <a:ext cx="4114800" cy="274320"/>
          </a:xfrm>
          <a:prstGeom prst="rect">
            <a:avLst/>
          </a:prstGeom>
          <a:noFill/>
        </p:spPr>
        <p:txBody>
          <a:bodyPr wrap="none">
            <a:spAutoFit/>
          </a:bodyPr>
          <a:lstStyle/>
          <a:p>
            <a:r>
              <a:rPr sz="1400" b="0" i="0">
                <a:solidFill>
                  <a:srgbClr val="667085"/>
                </a:solidFill>
                <a:latin typeface="Arial"/>
              </a:rPr>
              <a:t>Поэтапный план внедрения</a:t>
            </a:r>
          </a:p>
        </p:txBody>
      </p:sp>
      <p:cxnSp>
        <p:nvCxnSpPr>
          <p:cNvPr id="5" name="Connector 4"/>
          <p:cNvCxnSpPr/>
          <p:nvPr/>
        </p:nvCxnSpPr>
        <p:spPr>
          <a:xfrm>
            <a:off x="1371600" y="3154680"/>
            <a:ext cx="9418320" cy="0"/>
          </a:xfrm>
          <a:prstGeom prst="line">
            <a:avLst/>
          </a:prstGeom>
          <a:ln w="25400">
            <a:solidFill>
              <a:srgbClr val="2F6BFF"/>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65376"/>
            <a:ext cx="201168" cy="137160"/>
          </a:xfrm>
          <a:prstGeom prst="rect">
            <a:avLst/>
          </a:prstGeom>
          <a:noFill/>
        </p:spPr>
        <p:txBody>
          <a:bodyPr wrap="none">
            <a:spAutoFit/>
          </a:bodyPr>
          <a:lstStyle/>
          <a:p>
            <a:r>
              <a:rPr sz="900" b="1" i="0">
                <a:solidFill>
                  <a:srgbClr val="FFFFFF"/>
                </a:solidFill>
                <a:latin typeface="Arial"/>
              </a:rPr>
              <a:t>1</a:t>
            </a:r>
          </a:p>
        </p:txBody>
      </p:sp>
      <p:sp>
        <p:nvSpPr>
          <p:cNvPr id="9" name="TextBox 8"/>
          <p:cNvSpPr txBox="1"/>
          <p:nvPr/>
        </p:nvSpPr>
        <p:spPr>
          <a:xfrm>
            <a:off x="1005840" y="2240280"/>
            <a:ext cx="1828800" cy="1325880"/>
          </a:xfrm>
          <a:prstGeom prst="rect">
            <a:avLst/>
          </a:prstGeom>
          <a:noFill/>
        </p:spPr>
        <p:txBody>
          <a:bodyPr wrap="square">
            <a:spAutoFit/>
          </a:bodyPr>
          <a:lstStyle/>
          <a:p>
            <a:r>
              <a:rPr sz="1200" b="0" i="0">
                <a:solidFill>
                  <a:srgbClr val="142033"/>
                </a:solidFill>
                <a:latin typeface="Arial"/>
              </a:rPr>
              <a:t>Аналитика – OLAP‑кубы для многомерного среза, статистические модели, алгоритмы машинного обучения для предиктивной и прескриптивной аналитики.</a:t>
            </a:r>
          </a:p>
        </p:txBody>
      </p:sp>
      <p:sp>
        <p:nvSpPr>
          <p:cNvPr id="10" name="Rounded Rectangle 9"/>
          <p:cNvSpPr/>
          <p:nvPr/>
        </p:nvSpPr>
        <p:spPr>
          <a:xfrm>
            <a:off x="35661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033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865376"/>
            <a:ext cx="201168" cy="137160"/>
          </a:xfrm>
          <a:prstGeom prst="rect">
            <a:avLst/>
          </a:prstGeom>
          <a:noFill/>
        </p:spPr>
        <p:txBody>
          <a:bodyPr wrap="none">
            <a:spAutoFit/>
          </a:bodyPr>
          <a:lstStyle/>
          <a:p>
            <a:r>
              <a:rPr sz="900" b="1" i="0">
                <a:solidFill>
                  <a:srgbClr val="FFFFFF"/>
                </a:solidFill>
                <a:latin typeface="Arial"/>
              </a:rPr>
              <a:t>2</a:t>
            </a:r>
          </a:p>
        </p:txBody>
      </p:sp>
      <p:sp>
        <p:nvSpPr>
          <p:cNvPr id="13" name="TextBox 12"/>
          <p:cNvSpPr txBox="1"/>
          <p:nvPr/>
        </p:nvSpPr>
        <p:spPr>
          <a:xfrm>
            <a:off x="3749039" y="2240280"/>
            <a:ext cx="1828800" cy="1325880"/>
          </a:xfrm>
          <a:prstGeom prst="rect">
            <a:avLst/>
          </a:prstGeom>
          <a:noFill/>
        </p:spPr>
        <p:txBody>
          <a:bodyPr wrap="square">
            <a:spAutoFit/>
          </a:bodyPr>
          <a:lstStyle/>
          <a:p>
            <a:r>
              <a:rPr sz="1200" b="0" i="0">
                <a:solidFill>
                  <a:srgbClr val="142033"/>
                </a:solidFill>
                <a:latin typeface="Arial"/>
              </a:rPr>
              <a:t>Визуализация – интерактивные дашборды, отчеты по расписанию, self‑service порталы, встраиваемая аналитика в бизнес‑приложения.</a:t>
            </a:r>
          </a:p>
        </p:txBody>
      </p:sp>
      <p:sp>
        <p:nvSpPr>
          <p:cNvPr id="14" name="Rounded Rectangle 13"/>
          <p:cNvSpPr/>
          <p:nvPr/>
        </p:nvSpPr>
        <p:spPr>
          <a:xfrm>
            <a:off x="6309360" y="1965960"/>
            <a:ext cx="2240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46520" y="1828800"/>
            <a:ext cx="475488" cy="329184"/>
          </a:xfrm>
          <a:prstGeom prst="roundRect">
            <a:avLst/>
          </a:prstGeom>
          <a:solidFill>
            <a:srgbClr val="2F6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865376"/>
            <a:ext cx="201168" cy="137160"/>
          </a:xfrm>
          <a:prstGeom prst="rect">
            <a:avLst/>
          </a:prstGeom>
          <a:noFill/>
        </p:spPr>
        <p:txBody>
          <a:bodyPr wrap="none">
            <a:spAutoFit/>
          </a:bodyPr>
          <a:lstStyle/>
          <a:p>
            <a:r>
              <a:rPr sz="900" b="1" i="0">
                <a:solidFill>
                  <a:srgbClr val="FFFFFF"/>
                </a:solidFill>
                <a:latin typeface="Arial"/>
              </a:rPr>
              <a:t>3</a:t>
            </a:r>
          </a:p>
        </p:txBody>
      </p:sp>
      <p:sp>
        <p:nvSpPr>
          <p:cNvPr id="17" name="TextBox 16"/>
          <p:cNvSpPr txBox="1"/>
          <p:nvPr/>
        </p:nvSpPr>
        <p:spPr>
          <a:xfrm>
            <a:off x="6492240" y="2240280"/>
            <a:ext cx="1828800" cy="1325880"/>
          </a:xfrm>
          <a:prstGeom prst="rect">
            <a:avLst/>
          </a:prstGeom>
          <a:noFill/>
        </p:spPr>
        <p:txBody>
          <a:bodyPr wrap="square">
            <a:spAutoFit/>
          </a:bodyPr>
          <a:lstStyle/>
          <a:p>
            <a:r>
              <a:rPr sz="1200" b="0" i="0">
                <a:solidFill>
                  <a:srgbClr val="142033"/>
                </a:solidFill>
                <a:latin typeface="Arial"/>
              </a:rPr>
              <a:t>Действия – автоматические оповещения, workflow‑триггеры, обратная связь в операционные системы, мониторинг выполнения планов.</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Лучшие практики</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создание центра компетенции по BI (BICC) или аналитики (ACC) для управления стандартами, обучения пользователей и обеспечения качества.</a:t>
            </a:r>
          </a:p>
          <a:p>
            <a:pPr>
              <a:spcAft>
                <a:spcPts val="800"/>
              </a:spcAft>
            </a:pPr>
            <a:r>
              <a:rPr sz="1200" b="0" i="0">
                <a:solidFill>
                  <a:srgbClr val="142033"/>
                </a:solidFill>
                <a:latin typeface="Arial"/>
              </a:rPr>
              <a:t>• </a:t>
            </a:r>
            <a:r>
              <a:rPr sz="1200" b="0" i="0">
                <a:solidFill>
                  <a:srgbClr val="142033"/>
                </a:solidFill>
                <a:latin typeface="Arial"/>
              </a:rPr>
              <a:t>внедрение самообслуживающего BI с четким управлением доступом и политиками безопасности.</a:t>
            </a:r>
          </a:p>
          <a:p>
            <a:pPr>
              <a:spcAft>
                <a:spcPts val="800"/>
              </a:spcAft>
            </a:pPr>
            <a:r>
              <a:rPr sz="1200" b="0" i="0">
                <a:solidFill>
                  <a:srgbClr val="142033"/>
                </a:solidFill>
                <a:latin typeface="Arial"/>
              </a:rPr>
              <a:t>• </a:t>
            </a:r>
            <a:r>
              <a:rPr sz="1200" b="0" i="0">
                <a:solidFill>
                  <a:srgbClr val="142033"/>
                </a:solidFill>
                <a:latin typeface="Arial"/>
              </a:rPr>
              <a:t>использование augmented analytics: автоматическое выявление инсайтов, объяснение отклонений метрик, генерация рекомендаций на естественном языке.</a:t>
            </a:r>
          </a:p>
          <a:p>
            <a:pPr>
              <a:spcAft>
                <a:spcPts val="800"/>
              </a:spcAft>
            </a:pPr>
            <a:r>
              <a:rPr sz="1200" b="0" i="0">
                <a:solidFill>
                  <a:srgbClr val="142033"/>
                </a:solidFill>
                <a:latin typeface="Arial"/>
              </a:rPr>
              <a:t>• </a:t>
            </a:r>
            <a:r>
              <a:rPr sz="1200" b="0" i="0">
                <a:solidFill>
                  <a:srgbClr val="142033"/>
                </a:solidFill>
                <a:latin typeface="Arial"/>
              </a:rPr>
              <a:t>обработка неструктурированных данных (текст, логи, соцсети) с применением NLP и техники извлечения сущностей.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Лучшие практики (продолжение 2)</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соблюдение нормативных требований (GDPR, CCPA, отраслевые стандарты) через шифрование, контроль доступа, журналы аудита и политики хранения.</a:t>
            </a:r>
          </a:p>
          <a:p>
            <a:pPr>
              <a:spcAft>
                <a:spcPts val="800"/>
              </a:spcAft>
            </a:pPr>
            <a:r>
              <a:rPr sz="1200" b="0" i="0">
                <a:solidFill>
                  <a:srgbClr val="142033"/>
                </a:solidFill>
                <a:latin typeface="Arial"/>
              </a:rPr>
              <a:t>• </a:t>
            </a:r>
            <a:r>
              <a:rPr sz="1200" b="0" i="0">
                <a:solidFill>
                  <a:srgbClr val="142033"/>
                </a:solidFill>
                <a:latin typeface="Arial"/>
              </a:rPr>
              <a:t>непрерывный мониторинг качества данных и производительности pipelines (lag, свежесть, использование ресурсов).</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слева разместить вертикальную диаграмму слоёв (нумерованные блоки с иконками), справа – список лучших практик, каждая точка с соответствующей иконкой (щит – безопасность, робот – augmented analytics, книга – NLP, замок – шифрование, монитор – мониторинг).</a:t>
            </a:r>
          </a:p>
          <a:p>
            <a:pPr>
              <a:spcAft>
                <a:spcPts val="800"/>
              </a:spcAft>
            </a:pPr>
            <a:r>
              <a:rPr sz="1200" b="0" i="0">
                <a:solidFill>
                  <a:srgbClr val="142033"/>
                </a:solidFill>
                <a:latin typeface="Arial"/>
              </a:rPr>
              <a:t>• </a:t>
            </a:r>
            <a:r>
              <a:rPr sz="1200" b="0" i="0">
                <a:solidFill>
                  <a:srgbClr val="142033"/>
                </a:solidFill>
                <a:latin typeface="Arial"/>
              </a:rPr>
              <a:t>Слайд 5: Внедрение BI по шагам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1: Оценка готовности и формулирование целей</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провести инвентаризацию источников данных, оценить их качество, частоту обновления, доступность</a:t>
            </a:r>
          </a:p>
          <a:p>
            <a:pPr>
              <a:spcAft>
                <a:spcPts val="800"/>
              </a:spcAft>
            </a:pPr>
            <a:r>
              <a:rPr sz="1200" b="0" i="0">
                <a:solidFill>
                  <a:srgbClr val="142033"/>
                </a:solidFill>
                <a:latin typeface="Arial"/>
              </a:rPr>
              <a:t>• </a:t>
            </a:r>
            <a:r>
              <a:rPr sz="1200" b="0" i="0">
                <a:solidFill>
                  <a:srgbClr val="142033"/>
                </a:solidFill>
                <a:latin typeface="Arial"/>
              </a:rPr>
              <a:t>определить конкретные измеримые бизнес‑цели (например, сократить время подготовки месячной отчетности с 5 дней до 4 часов, увеличить кросс‑продажи на 10 % за год за счет анализа поведения клиентов)</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2: Проектирование архитектуры</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выбрать тип решения (корпоративное хранилище данных, витрины для отдельных подразделений, гибридное озеро + склад)</a:t>
            </a:r>
          </a:p>
          <a:p>
            <a:pPr>
              <a:spcAft>
                <a:spcPts val="800"/>
              </a:spcAft>
            </a:pPr>
            <a:r>
              <a:rPr sz="1200" b="0" i="0">
                <a:solidFill>
                  <a:srgbClr val="142033"/>
                </a:solidFill>
                <a:latin typeface="Arial"/>
              </a:rPr>
              <a:t>• </a:t>
            </a:r>
            <a:r>
              <a:rPr sz="1200" b="0" i="0">
                <a:solidFill>
                  <a:srgbClr val="142033"/>
                </a:solidFill>
                <a:latin typeface="Arial"/>
              </a:rPr>
              <a:t>определить стек технологий: инструменты ETL (Informatica, Talend, Azure Data Factory, Apache NiFi), хранилища (Snowflake, Redshift, BigQuery, Azure Synapse, PostgreSQL), OLAP (SSAS, Apache Kylin), визуализация (Power BI, Tableau, Qlik Sense, Looker), платформы ML (Databricks, SageMaker, Azure ML)</a:t>
            </a:r>
          </a:p>
          <a:p>
            <a:pPr>
              <a:spcAft>
                <a:spcPts val="800"/>
              </a:spcAft>
            </a:pPr>
            <a:r>
              <a:rPr sz="1200" b="0" i="0">
                <a:solidFill>
                  <a:srgbClr val="142033"/>
                </a:solidFill>
                <a:latin typeface="Arial"/>
              </a:rPr>
              <a:t>• </a:t>
            </a:r>
            <a:r>
              <a:rPr sz="1200" b="0" i="0">
                <a:solidFill>
                  <a:srgbClr val="142033"/>
                </a:solidFill>
                <a:latin typeface="Arial"/>
              </a:rPr>
              <a:t>продумать модель безопасности: роли, права доступа, шифрование данных в покое и в движении, журналы аудита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3: Реализация пилотного проекта</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выбрать use case с высокой бизнес‑ценностью и относительно простым доступом к данным (например, анализ продаж по регионам или прогноз оттока клиентов)</a:t>
            </a:r>
          </a:p>
          <a:p>
            <a:pPr>
              <a:spcAft>
                <a:spcPts val="800"/>
              </a:spcAft>
            </a:pPr>
            <a:r>
              <a:rPr sz="1200" b="0" i="0">
                <a:solidFill>
                  <a:srgbClr val="142033"/>
                </a:solidFill>
                <a:latin typeface="Arial"/>
              </a:rPr>
              <a:t>• </a:t>
            </a:r>
            <a:r>
              <a:rPr sz="1200" b="0" i="0">
                <a:solidFill>
                  <a:srgbClr val="142033"/>
                </a:solidFill>
                <a:latin typeface="Arial"/>
              </a:rPr>
              <a:t>собрать кросс‑функциональную команду: бизнес‑аналитик, инженер данных, аналитик данных, представитель ИТ, владелец процесса</a:t>
            </a:r>
          </a:p>
          <a:p>
            <a:pPr>
              <a:spcAft>
                <a:spcPts val="800"/>
              </a:spcAft>
            </a:pPr>
            <a:r>
              <a:rPr sz="1200" b="0" i="0">
                <a:solidFill>
                  <a:srgbClr val="142033"/>
                </a:solidFill>
                <a:latin typeface="Arial"/>
              </a:rPr>
              <a:t>• </a:t>
            </a:r>
            <a:r>
              <a:rPr sz="1200" b="0" i="0">
                <a:solidFill>
                  <a:srgbClr val="142033"/>
                </a:solidFill>
                <a:latin typeface="Arial"/>
              </a:rPr>
              <a:t>построить ETL пайплайн для выбранных источников, создать витрину данных, разработать прототип дашбордов и отчетов</a:t>
            </a:r>
          </a:p>
          <a:p>
            <a:pPr>
              <a:spcAft>
                <a:spcPts val="800"/>
              </a:spcAft>
            </a:pPr>
            <a:r>
              <a:rPr sz="1200" b="0" i="0">
                <a:solidFill>
                  <a:srgbClr val="142033"/>
                </a:solidFill>
                <a:latin typeface="Arial"/>
              </a:rPr>
              <a:t>• </a:t>
            </a:r>
            <a:r>
              <a:rPr sz="1200" b="0" i="0">
                <a:solidFill>
                  <a:srgbClr val="142033"/>
                </a:solidFill>
                <a:latin typeface="Arial"/>
              </a:rPr>
              <a:t>провести тестирование с конечными пользователями, собрать обратную связь, скорректировать модель данных и визуализации</a:t>
            </a:r>
          </a:p>
          <a:p>
            <a:pPr>
              <a:spcAft>
                <a:spcPts val="800"/>
              </a:spcAft>
            </a:pPr>
            <a:r>
              <a:rPr sz="1200" b="0" i="0">
                <a:solidFill>
                  <a:srgbClr val="142033"/>
                </a:solidFill>
                <a:latin typeface="Arial"/>
              </a:rPr>
              <a:t>• </a:t>
            </a:r>
            <a:r>
              <a:rPr sz="1200" b="0" i="0">
                <a:solidFill>
                  <a:srgbClr val="142033"/>
                </a:solidFill>
                <a:latin typeface="Arial"/>
              </a:rPr>
              <a:t>измерить результаты по согласованным KPI (время подготовки отчета, точность прогноза, степень удовлетворенности пользователей)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4: Масштабирование и внедрение в производство</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на основе успеха пилота утвердить дорожную карту расширения: добавить новые источники данных, увеличить количество витрин, расширить круг пользователей</a:t>
            </a:r>
          </a:p>
          <a:p>
            <a:pPr>
              <a:spcAft>
                <a:spcPts val="800"/>
              </a:spcAft>
            </a:pPr>
            <a:r>
              <a:rPr sz="1200" b="0" i="0">
                <a:solidFill>
                  <a:srgbClr val="142033"/>
                </a:solidFill>
                <a:latin typeface="Arial"/>
              </a:rPr>
              <a:t>• </a:t>
            </a:r>
            <a:r>
              <a:rPr sz="1200" b="0" i="0">
                <a:solidFill>
                  <a:srgbClr val="142033"/>
                </a:solidFill>
                <a:latin typeface="Arial"/>
              </a:rPr>
              <a:t>внедрить процессы управления изменениями: обучение конечных пользователей, создание документации и FAQ, establishment службы поддержки и helpdesk</a:t>
            </a:r>
          </a:p>
          <a:p>
            <a:pPr>
              <a:spcAft>
                <a:spcPts val="800"/>
              </a:spcAft>
            </a:pPr>
            <a:r>
              <a:rPr sz="1200" b="0" i="0">
                <a:solidFill>
                  <a:srgbClr val="142033"/>
                </a:solidFill>
                <a:latin typeface="Arial"/>
              </a:rPr>
              <a:t>• </a:t>
            </a:r>
            <a:r>
              <a:rPr sz="1200" b="0" i="0">
                <a:solidFill>
                  <a:srgbClr val="142033"/>
                </a:solidFill>
                <a:latin typeface="Arial"/>
              </a:rPr>
              <a:t>установить механизмы мониторинга: контроль свежести данных, отслеживание времени выполнения ETL, метрики использования дашбордов, оповещения об аномалиях</a:t>
            </a:r>
          </a:p>
          <a:p>
            <a:pPr>
              <a:spcAft>
                <a:spcPts val="800"/>
              </a:spcAft>
            </a:pPr>
            <a:r>
              <a:rPr sz="1200" b="0" i="0">
                <a:solidFill>
                  <a:srgbClr val="142033"/>
                </a:solidFill>
                <a:latin typeface="Arial"/>
              </a:rPr>
              <a:t>• </a:t>
            </a:r>
            <a:r>
              <a:rPr sz="1200" b="0" i="0">
                <a:solidFill>
                  <a:srgbClr val="142033"/>
                </a:solidFill>
                <a:latin typeface="Arial"/>
              </a:rPr>
              <a:t>обеспечить соответствие регулятивным требованиям: настройка ролей, шифрование, политики хранения и удаления данных, регулярные аудиты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5: Поддержка, оптимизация и эволюция</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перейти к режиму постоянной эксплуатации: регулярные обновления ETL‑процессов, добавление новых источников, оптимизация запросов и агрегаций</a:t>
            </a:r>
          </a:p>
          <a:p>
            <a:pPr>
              <a:spcAft>
                <a:spcPts val="800"/>
              </a:spcAft>
            </a:pPr>
            <a:r>
              <a:rPr sz="1200" b="0" i="0">
                <a:solidFill>
                  <a:srgbClr val="142033"/>
                </a:solidFill>
                <a:latin typeface="Arial"/>
              </a:rPr>
              <a:t>• </a:t>
            </a:r>
            <a:r>
              <a:rPr sz="1200" b="0" i="0">
                <a:solidFill>
                  <a:srgbClr val="142033"/>
                </a:solidFill>
                <a:latin typeface="Arial"/>
              </a:rPr>
              <a:t>развивать самообслуживание: предоставить бизнес‑пользователям доступ к подготовленным наборам данных и инструментам визуализации с управлением метаданными</a:t>
            </a:r>
          </a:p>
          <a:p>
            <a:pPr>
              <a:spcAft>
                <a:spcPts val="800"/>
              </a:spcAft>
            </a:pPr>
            <a:r>
              <a:rPr sz="1200" b="0" i="0">
                <a:solidFill>
                  <a:srgbClr val="142033"/>
                </a:solidFill>
                <a:latin typeface="Arial"/>
              </a:rPr>
              <a:t>• </a:t>
            </a:r>
            <a:r>
              <a:rPr sz="1200" b="0" i="0">
                <a:solidFill>
                  <a:srgbClr val="142033"/>
                </a:solidFill>
                <a:latin typeface="Arial"/>
              </a:rPr>
              <a:t>интегрировать продвинутую аналитику и ИИ: добавить предиктивные модели, автоматическое обнаружение аномалий, естественно‑языковые запросы (например, через Copilot в Power BI)</a:t>
            </a:r>
          </a:p>
          <a:p>
            <a:pPr>
              <a:spcAft>
                <a:spcPts val="800"/>
              </a:spcAft>
            </a:pPr>
            <a:r>
              <a:rPr sz="1200" b="0" i="0">
                <a:solidFill>
                  <a:srgbClr val="142033"/>
                </a:solidFill>
                <a:latin typeface="Arial"/>
              </a:rPr>
              <a:t>• </a:t>
            </a:r>
            <a:r>
              <a:rPr sz="1200" b="0" i="0">
                <a:solidFill>
                  <a:srgbClr val="142033"/>
                </a:solidFill>
                <a:latin typeface="Arial"/>
              </a:rPr>
              <a:t>периодически пересматривать KPI и бизнес‑цели, корректировать дорожную карту на основе полученных результатов</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8961120" cy="594360"/>
          </a:xfrm>
          <a:prstGeom prst="rect">
            <a:avLst/>
          </a:prstGeom>
          <a:noFill/>
        </p:spPr>
        <p:txBody>
          <a:bodyPr wrap="none">
            <a:spAutoFit/>
          </a:bodyPr>
          <a:lstStyle/>
          <a:p>
            <a:r>
              <a:rPr sz="2000" b="1" i="0">
                <a:solidFill>
                  <a:srgbClr val="142033"/>
                </a:solidFill>
                <a:latin typeface="Arial"/>
              </a:rPr>
              <a:t>Шаг 5: Поддержка, оптимизация и эволюция (продолжение 2)</a:t>
            </a:r>
          </a:p>
        </p:txBody>
      </p:sp>
      <p:sp>
        <p:nvSpPr>
          <p:cNvPr id="4" name="Rounded Rectangle 3"/>
          <p:cNvSpPr/>
          <p:nvPr/>
        </p:nvSpPr>
        <p:spPr>
          <a:xfrm>
            <a:off x="685800" y="1325880"/>
            <a:ext cx="1088136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72768"/>
            <a:ext cx="10058400" cy="4343400"/>
          </a:xfrm>
          <a:prstGeom prst="rect">
            <a:avLst/>
          </a:prstGeom>
          <a:noFill/>
        </p:spPr>
        <p:txBody>
          <a:bodyPr wrap="square" lIns="0" rIns="0" tIns="0" bIns="0" anchor="t">
            <a:spAutoFit/>
          </a:bodyPr>
          <a:lstStyle/>
          <a:p>
            <a:pPr>
              <a:spcAft>
                <a:spcPts val="800"/>
              </a:spcAft>
            </a:pPr>
            <a:r>
              <a:rPr sz="1200" b="0" i="0">
                <a:solidFill>
                  <a:srgbClr val="142033"/>
                </a:solidFill>
                <a:latin typeface="Arial"/>
              </a:rPr>
              <a:t>• </a:t>
            </a:r>
            <a:r>
              <a:rPr sz="1200" b="0" i="0">
                <a:solidFill>
                  <a:srgbClr val="142033"/>
                </a:solidFill>
                <a:latin typeface="Arial"/>
              </a:rPr>
              <a:t>оценивать ROI: сравнение инвестиций в инфраструктуру и лицензии с измеренной выгодой (экономия времени, рост выручки, снижение издержек)</a:t>
            </a:r>
          </a:p>
          <a:p>
            <a:pPr>
              <a:spcAft>
                <a:spcPts val="800"/>
              </a:spcAft>
            </a:pPr>
            <a:r>
              <a:rPr sz="1200" b="0" i="0">
                <a:solidFill>
                  <a:srgbClr val="142033"/>
                </a:solidFill>
                <a:latin typeface="Arial"/>
              </a:rPr>
              <a:t>• </a:t>
            </a:r>
            <a:r>
              <a:rPr sz="1200" b="0" i="1">
                <a:solidFill>
                  <a:srgbClr val="142033"/>
                </a:solidFill>
                <a:latin typeface="Arial"/>
              </a:rPr>
              <a:t>Рекомендация к оформлению:</a:t>
            </a:r>
            <a:r>
              <a:rPr sz="1200" b="0" i="0">
                <a:solidFill>
                  <a:srgbClr val="142033"/>
                </a:solidFill>
                <a:latin typeface="Arial"/>
              </a:rPr>
              <a:t>каждый шаг оформить как numbered блок с левой иконкой (флаг – шаг 1, чертеж – шаг 2, колба – шаг 3, ракета – шаг 4, шестерёнка с графиком – шаг 5). Текст внутри блока выровнять по левому краю, использовать одинаковый отступ между шагами.</a:t>
            </a:r>
          </a:p>
          <a:p>
            <a:pPr>
              <a:spcAft>
                <a:spcPts val="800"/>
              </a:spcAft>
            </a:pPr>
            <a:r>
              <a:rPr sz="1200" b="0" i="0">
                <a:solidFill>
                  <a:srgbClr val="142033"/>
                </a:solidFill>
                <a:latin typeface="Arial"/>
              </a:rPr>
              <a:t>• </a:t>
            </a:r>
            <a:r>
              <a:rPr sz="1200" b="0" i="0">
                <a:solidFill>
                  <a:srgbClr val="142033"/>
                </a:solidFill>
                <a:latin typeface="Arial"/>
              </a:rPr>
              <a:t>Презентация завершена. Готово к использованию.</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