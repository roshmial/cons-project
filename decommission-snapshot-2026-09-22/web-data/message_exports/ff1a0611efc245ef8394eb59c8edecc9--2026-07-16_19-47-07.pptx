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Arial"/>
              </a:rPr>
              <a:t>Новый чат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31520" y="5440680"/>
            <a:ext cx="10698480" cy="713232"/>
          </a:xfrm>
          <a:prstGeom prst="round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559552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42033"/>
                </a:solidFill>
                <a:latin typeface="Arial"/>
              </a:rPr>
              <a:t>Статус сборки: Есть ограничения</a:t>
            </a:r>
          </a:p>
          <a:p>
            <a:r>
              <a:rPr sz="1000" b="0" i="0">
                <a:solidFill>
                  <a:srgbClr val="142033"/>
                </a:solidFill>
                <a:latin typeface="Arial"/>
              </a:rPr>
              <a:t>число слайдов отличается от ожидаемого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&lt;!DOCTYPE html&gt;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&lt;html lang="ru"&gt;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&lt;head&gt;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&lt;meta charset="UTF-8" /&gt;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&lt;title&gt;Astra Coworker — презентация&lt;/title&gt;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&lt;style&gt;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:root {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--bg: #0b1020;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--card: #141a30;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--accent: #00c9a7;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--text: #e6edf5;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--muted: #9aa5b1;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--radius: 12px;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--gap: 1.5rem;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font-family: system-ui, -apple-system, 'Segoe UI', Roboto, Arial;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}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body { margin:0; background: var(--bg); color: var(--text); line-height:1.5; }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.slide { padding: clamp(1rem, 4vw, 2rem) clamp(1.5rem, 6vw, 3rem); display:grid; gap:var(--gap); min-height: 100vh; align-content:center;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h1,h2,h3 { margin:0 0 .5em; line-height:1.2; }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h1 { font-size:clamp(1.8rem, 5vw, 2.6rem); }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h2 { font-size:clamp(1.4rem, 4vw, 2rem); color:var(--accent); }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h3 { font-size:1.1rem; color:var(--accent); margin-top:.8em; }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p { margin:0 0 .8em; max-width: 90ch; }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ul { margin:.5em 0 0 1.2em; padding:0;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li { margin-bottom:.4em; }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.kpi-grid { display: grid; grid-template-columns: repeat(auto-fit, minmax(220px, 1fr)); gap:1rem; margin-top:.5em; }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.kpi-card { background: var(--card); border-radius: var(--radius); padding:1rem; border:1px solid rgba(0,201,167,.2); }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.kpi-value { font-weight:700; font-size:1.4rem; color:var(--accent); }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table { width:100%; border-collapse:collapse; margin-top:.5em; }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th, td { text-align:left; padding:.6em .8em; border-bottom:1px solid rgba(255,255,255,.08);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th { color:var(--accent); }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.two-col { display:grid; grid-template-columns: 1fr 1fr; gap:2rem; align-items:start; }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@media (max-width: 900px){ .two-col{ grid-template-columns:1fr; } }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footer { opacity:.6; font-size:.9rem; margin-top:2rem; }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&lt;/style&gt;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&lt;/head&gt;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&lt;body&gt;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&lt;div class="slide"&gt;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&lt;h1&gt;Astra Coworker&lt;/h1&gt;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&lt;p&gt;Нативный AI-агент операционной системы Astra Linux. Глубоко встроен в ОС и рабочее окружение Fly.&lt;/p&gt;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&lt;div class="kpi-grid"&gt;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&lt;div class="kpi-card"&gt;&lt;div class="kpi-value"&gt;Единый интерфейс&lt;/div&gt;&lt;div&gt;на естественном языке к системе и приложениям&lt;/div&gt;&lt;/div&gt;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&lt;div class="kpi-card"&gt;&lt;div class="kpi-value"&gt;Действия от имени пользователя&lt;/div&gt;&lt;div&gt;с мандатной моделью доступа PARSEC&lt;/div&gt;&lt;/div&gt;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&lt;div class="kpi-card"&gt;&lt;div class="kpi-value"&gt;Контур AI-СЗИ&lt;/div&gt;&lt;div&gt;в архитектуре ФСТЭК/ОС спецназначения&lt;/div&gt;&lt;/div&gt;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&lt;/div&gt;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&lt;/div&gt;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&lt;div class="slide"&gt;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&lt;h2&gt;Рыночный контекст&lt;/h2&gt;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&lt;ul&gt;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&lt;li&gt;AI становится свойством платформы, а не приложения (Copilot+, Apple Intelligence, Android AI Core).&lt;/li&gt;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&lt;li&gt;Пользовательский агент полезен ровно настолько, насколько имеет доступ к системному контексту без избыточных прав.&lt;/li&gt;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&lt;li&gt;Astra Linux — единственная сертифицированная платформа РФ для доверенного общесистемного ИИ-агента.&lt;/li&gt;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&lt;/ul&gt;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&lt;h3&gt;Проблемы сегодня&lt;/h3&gt;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&lt;li&gt;Разрыв между обещанной производительностью SaaS-AI и реальной выгодой из-за отсутствия контура КИИ.&lt;/li&gt;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&lt;li&gt;Внешние AI неприменимы при гостайне/банковской тайне.&lt;/li&gt;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&lt;li&gt;Дробление компетенций ИБ по каждому инструменту.&lt;/li&gt;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&lt;li&gt;Сложность входа новых сотрудников с Windows.&lt;/li&gt;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&lt;/ul&gt;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&lt;/div&gt;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&lt;div class="slide"&gt;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&lt;h2&gt;Целевая аудитория&lt;/h2&gt;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&lt;table&gt;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&lt;thead&gt;&lt;tr&gt;&lt;th&gt;Сегмент&lt;/th&gt;&lt;th&gt;Профиль/задачи&lt;/th&gt;&lt;th&gt;Ключевая ценность&lt;/th&gt;&lt;/tr&gt;&lt;/thead&gt;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&lt;tbody&gt;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&lt;tr&gt;&lt;td&gt;Массовый офис&lt;/td&gt;&lt;td&gt;Документы, почта, ВКС&lt;/td&gt;&lt;td&gt;−25…40% времени на рутину&lt;/td&gt;&lt;/tr&gt;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&lt;tr&gt;&lt;td&gt;Администраторы/DevOps&lt;/td&gt;&lt;td&gt;Astra, ALD Pro, Brest&lt;/td&gt;&lt;td&gt;Диалог + полный audit действий&lt;/td&gt;&lt;/tr&gt;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&lt;tr&gt;&lt;td&gt;ИБ&lt;/td&gt;&lt;td&gt;SOC/DPO/CII&lt;/td&gt;&lt;td&gt;Инструмент расследования и объект контроля «из коробки»&lt;/td&gt;&lt;/tr&gt;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&lt;tr&gt;&lt;td&gt;Госсектор&lt;/td&gt;&lt;td&gt;ГОСТ, МЭДО, регламенты&lt;/td&gt;&lt;td&gt;Помощь в делопроизводстве под требования&lt;/td&gt;&lt;/tr&gt;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&lt;tr&gt;&lt;td&gt;Банковский сектор&lt;/td&gt;&lt;td&gt;Операции/комплаенс/риски&lt;/td&gt;&lt;td&gt;Закрытый контур банковской тайны и ПДн&lt;/td&gt;&lt;/tr&gt;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&lt;tr&gt;&lt;td&gt;Нефтехимия/производство&lt;/td&gt;&lt;td&gt;ИТР, ОТиПБ&lt;/td&gt;&lt;td&gt;Безопасный IT↔OT через DMZ&lt;/td&gt;&lt;/tr&gt;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&lt;tr&gt;&lt;td&gt;Разработчики ПО для Astra&lt;/td&gt;&lt;td&gt;Сборка отечественного ПО&lt;/td&gt;&lt;td&gt;Локальный код-ассистент без интернета&lt;/td&gt;&lt;/tr&gt;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&lt;/tbody&gt;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&lt;/table&gt;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&lt;/div&gt;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&lt;div class="slide"&gt;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&lt;h2&gt;Концепция продукта&lt;/h2&gt;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&lt;p&gt;«Нервная система ИИ» внутри Astra Linux: единый сайдбар/горячая клавиша/голос → действия во всех приложениях и CLI с соблюдением политик безопасности.&lt;/p&gt;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&lt;h3&gt;Принципы&lt;/h3&gt;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&lt;ul&gt;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&lt;li&gt;Глубокая интеграция вместо обёртки (Fly, PARSEC, audit, ALD Pro, D-Bus, AT-SPI, UNO API, OPC UA-клиенты).&lt;/li&gt;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&lt;li&gt;Безопасность по умолчанию: наследование меток, human-in-the-loop для опасных операций.&lt;/li&gt;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&lt;li&gt;Локальность данных по умолчанию.&lt;/li&gt;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&lt;li&gt;Расширяемость скиллами с манифестом разрешений.&lt;/li&gt;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&lt;li&gt;Прозрачность решений и трассируемость шагов.&lt;/li&gt;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&lt;/div&gt;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&lt;div class="slide"&gt;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&lt;h2&gt;Уникальные системные возможности&lt;/h2&gt;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&lt;li&gt;Чтение/запись с учётом мандатных меток PARSEC.&lt;/li&gt;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&lt;li&gt;Прямая работа с журналом аудита OS.&lt;/li&gt;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&lt;li&gt;Управление окнами/рабочими столами через Fly Composer.&lt;/li&gt;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&lt;li&gt;Доступ к дереву доступности приложений (AT-SPI GTK/Qt).&lt;/li&gt;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&lt;li&gt;Единая аутентификация через ALD Pro (развитие).&lt;/li&gt;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&lt;li&gt;Доверенная загрузка моделей (хеши МКЦ до старта inference).&lt;/li&gt;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&lt;li&gt;Единый журнал событий безопасности: системные + AI-события.&lt;/li&gt;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&lt;/div&gt;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&lt;div class="slide"&gt;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&lt;h2&gt;Почему только встраивание в ОС?&lt;/h2&gt;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&lt;div class="two-col"&gt;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&lt;div&gt;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&lt;h3&gt;Безопасность&lt;/h3&gt;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&lt;li&gt;Нет песочницы прикладного уровня для полного контекста без избыточных прав.&lt;/li&gt;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&lt;li&gt;Только ядро гарантирует наследование мандатной метки.&lt;/li&gt;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&lt;li&gt;Модели как часть доверенной загрузки/MKTs.&lt;/li&gt;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&lt;h3&gt;Экономика&lt;/h3&gt;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&lt;li&gt;N×M интеграций у отдельных агентов против N+M со встроенным решением.&lt;/li&gt;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&lt;li&gt;Аттестация дешевле за счёт состава объекта оценки = ОС+компонент.&lt;/li&gt;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&lt;/div&gt;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&lt;div&gt;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&lt;h3&gt;Функциональность&lt;/h3&gt;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&lt;li&gt;Окна, буфер обмена, периферия требуют интеграции на уровне композитора/субсистем.&lt;/li&gt;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&lt;li&gt;Расследование инцидентов требует прямого access к audit/journal/conntrack.&lt;/li&gt;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&lt;li&gt;Права sudo/audit-подтверждение возможны только на уровне ОС.&lt;/li&gt;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&lt;/div&gt;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&lt;/div&gt;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&lt;/div&gt;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22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&lt;div class="slide"&gt;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&lt;h2&gt;Синергия с Astra Group AI&lt;/h2&gt;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&lt;p&gt;AstraCoworker — единая точка входа и среда исполнения для корпоративных LLM/RAG-сервисов:&lt;/p&gt;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&lt;ul&gt;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&lt;li&gt;Платформа предоставляет приватные модели; Coworker — клиент/оркестратор/доступ пользователю.&lt;/li&gt;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&lt;li&gt;Скиллы используют корпоративные или локальные модели по требованиям латентности/автономности.&lt;/li&gt;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23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&lt;li&gt;ALD Pro — единое управление парком АРМ и AI-сервисами.&lt;/li&gt;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&lt;li&gt;Единая витрина наблюдаемости журналов OC и AI.&lt;/li&gt;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&lt;li&gt;Сертификация проще: компонент аттестованной ОС.&lt;/li&gt;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&lt;/ul&gt;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&lt;p&gt;&lt;strong&gt;Метафора:&lt;/strong&gt; если Astra Group AI — двигатель и трансмиссия, то Astra Coworker — руль, педали и ремни безопасности единого автомобиля Astra Linux.&lt;/p&gt;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&lt;/div&gt;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&lt;div class="slide"&gt;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&lt;h2&gt;Каталог кейсов (выборочно)&lt;/h2&gt;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&lt;div class="two-col"&gt;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&lt;div&gt;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&lt;h3&gt;Офис/Делопроизводство&lt;/h3&gt;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&lt;ul&gt;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&lt;li&gt;Поиск файлов NL («презентация Q3 c Ивановым»).&lt;/li&gt;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&lt;li&gt;Массовое переименование документов по содержимому.&lt;/li&gt;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&lt;li&gt;Подготовка письма с вложениями с проверкой грифов.&lt;/li&gt;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&lt;li&gt;Автозаполнение форм LibreOffice данными 1C/ODBC.&lt;/li&gt;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&lt;li&gt;Извлечение задач из писем → таск-трекер/календарь.&lt;/li&gt;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&lt;li&gt;Транскрибация совещаний ASR офлайн.&lt;/li&gt;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&lt;h3&gt;ИБ/Аудит&lt;/h3&gt;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&lt;li&gt;Расследование инцидента по auditd+journal в реальном времени.&lt;/li&gt;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&lt;li&gt;Деперсонализация наборов перед передачей подрядчику.&lt;/li&gt;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&lt;li&gt;Чек-листы готовности к проверкам ФСТЭК/ФСБ.&lt;/li&gt;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&lt;/div&gt;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&lt;div&gt;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&lt;h3&gt;Администрирование/DevOps&lt;/h3&gt;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&lt;li&gt;Bash-помощь с объяснением и подтверждением выполнения.&lt;/li&gt;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&lt;li&gt;Генерация Ansible/Kubernetes-манифестов, анализ RBAC.&lt;/li&gt;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&lt;li&gt;Code review коммита, генерация unit-тестов.&lt;/li&gt;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&lt;li&gt;Анализ дампов памяти, помощь по systemd-юнитам.&lt;/li&gt;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&lt;li&gt;Резервное копирование «по смыслу», контроль дрейфа /etc.&lt;/li&gt;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&lt;h3&gt;Производство/ОТиПБ&lt;/h3&gt;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29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&lt;li&gt;Журнал пусков-остановов оборудования по сигналам АСУ ТП.&lt;/li&gt;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&lt;li&gt;ППР: сбор согласований, проверка комплектности.&lt;/li&gt;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&lt;li&gt;Подсказки по ГОСТ Р МЭК 61511, подготовка к аудитам СЭнМ/ISO 14001.&lt;/li&gt;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&lt;/div&gt;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&lt;/div&gt;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&lt;/div&gt;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&lt;div class="slide"&gt;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&lt;h2&gt;Отличие от отдельно стоящих AI-агентов/SaaS&lt;/h2&gt;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&lt;table&gt;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&lt;thead&gt;&lt;tr&gt;&lt;th&gt;Свойство&lt;/th&gt;&lt;th&gt;Отдельный агент/SaaS&lt;/th&gt;&lt;th&gt;Astra Coworker (встроен)&lt;/th&gt;&lt;/tr&gt;&lt;/thead&gt;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&lt;tbody&gt;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&lt;tr&gt;&lt;td&gt;Доступ к мандатным меткам PARSEC&lt;/td&gt;&lt;td&gt;Нет&lt;/td&gt;&lt;td&gt;Да, наследуется в каждом запросе&lt;/td&gt;&lt;/tr&gt;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&lt;tr&gt;&lt;td&gt;Действия в произвольных приложениях&lt;/td&gt;&lt;td&gt;Скриншоты/эмуляция ввода&lt;/td&gt;&lt;td&gt;AT-SPI/D-Bus/UNO API нативно&lt;/td&gt;&lt;/tr&gt;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&lt;tr&gt;&lt;td&gt;Единый журнал аудита&lt;/td&gt;&lt;td&gt;Своя подсистема&lt;/td&gt;&lt;td&gt;auditd с контекстом сессии&lt;/td&gt;&lt;/tr&gt;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&lt;tr&gt;&lt;td&gt;Аутентификация/роли&lt;/td&gt;&lt;td&gt;Учётка приложения&lt;/td&gt;&lt;td&gt;ALD Pro/Kerberos — действие=действие пользователя&lt;/td&gt;&lt;/tr&gt;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&lt;tr&gt;&lt;td&gt;Контроль целостности модели&lt;/td&gt;&lt;td&gt;На усмотрение поставщика&lt;/td&gt;&lt;td&gt;PARSEC MKCs — хеш-модели обязателен&lt;/td&gt;&lt;/tr&gt;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&lt;tr&gt;&lt;td&gt;Air-gap режим&lt;/td&gt;&lt;td&gt;Часто требуется интернет&lt;/td&gt;&lt;td&gt;Полностью офлайн-допустимо&lt;/td&gt;&lt;/tr&gt;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&lt;tr&gt;&lt;td&gt;Аттестационная пригодность&lt;/td&gt;&lt;td&gt;Отдельная аттестация&lt;/td&gt;&lt;td&gt;Как часть аттестованной ОС&lt;/td&gt;&lt;/tr&gt;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&lt;/tbody&gt;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&lt;/table&gt;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&lt;/div&gt;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&lt;div class="slide"&gt;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33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&lt;h2&gt;Next steps &amp; Roadmap-фокус&lt;/h2&gt;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&lt;ul&gt;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&lt;li&gt;Базовые навыки: файловый поиск NL, окна/раскладка, почтовые сценарии, автозаполнение форм.&lt;/li&gt;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&lt;li&gt;IB/Audit-first: сквозной audit-trail, политики подтверждения HITL, отчётность регуляторам одним кликом.&lt;/li&gt;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&lt;li&gt;Экосистема скиллов: манифест разрешённых ресурсов, каталог партнёров, сертифицируемые плагины.&lt;/li&gt;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000" b="0" i="0">
                <a:solidFill>
                  <a:srgbClr val="142033"/>
                </a:solidFill>
                <a:latin typeface="Arial"/>
              </a:rPr>
              <a:t>&lt;li&gt;Производственные домены: шаблоны НПА/ГОСТ, ЕГАИС/Меркурий/Честный знак, ИТ-безопасность OT-зон.&lt;/li&gt;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34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&lt;li&gt;Интеграция с Astra Group AI: RAG-корпоративные БД, унифицированная наблюдаемость, групповые политики ALD Pro.&lt;/li&gt;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&lt;/ul&gt;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&lt;/div&gt;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&lt;footer&gt;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PRD v1.0 • Драфт для обсуждения • Нативный AI-агент Astra Linux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100" b="0" i="0">
                <a:solidFill>
                  <a:srgbClr val="142033"/>
                </a:solidFill>
                <a:latin typeface="Arial"/>
              </a:rPr>
              <a:t>&lt;/footer&gt;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 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&lt;/body&gt;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&lt;/html&gt;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