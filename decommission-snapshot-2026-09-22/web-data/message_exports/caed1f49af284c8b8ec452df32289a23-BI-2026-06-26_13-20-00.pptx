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Arial"/>
              </a:rPr>
              <a:t>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40280"/>
            <a:ext cx="7863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F7F9FC"/>
                </a:solidFill>
                <a:latin typeface="Arial"/>
              </a:rPr>
              <a:t>• Титульный</a:t>
            </a:r>
          </a:p>
          <a:p>
            <a:r>
              <a:rPr sz="1400" b="0" i="0">
                <a:solidFill>
                  <a:srgbClr val="F7F9FC"/>
                </a:solidFill>
                <a:latin typeface="Arial"/>
              </a:rPr>
              <a:t>• Определение BI</a:t>
            </a:r>
          </a:p>
          <a:p>
            <a:r>
              <a:rPr sz="1400" b="0" i="0">
                <a:solidFill>
                  <a:srgbClr val="F7F9FC"/>
                </a:solidFill>
                <a:latin typeface="Arial"/>
              </a:rPr>
              <a:t>• Зачем нужно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Структура презентации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489204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4297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42033"/>
                </a:solidFill>
                <a:latin typeface="Arial"/>
              </a:rPr>
              <a:t>1. Титульный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17320"/>
            <a:ext cx="489204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554480"/>
            <a:ext cx="4297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42033"/>
                </a:solidFill>
                <a:latin typeface="Arial"/>
              </a:rPr>
              <a:t>2. Определение BI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06040"/>
            <a:ext cx="489204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297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42033"/>
                </a:solidFill>
                <a:latin typeface="Arial"/>
              </a:rPr>
              <a:t>3. Зачем нужно BI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606040"/>
            <a:ext cx="489204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743200"/>
            <a:ext cx="4297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42033"/>
                </a:solidFill>
                <a:latin typeface="Arial"/>
              </a:rPr>
              <a:t>4. Как идеально применять BI (архитектура и лучшие практики)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Структура презентации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489204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4297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42033"/>
                </a:solidFill>
                <a:latin typeface="Arial"/>
              </a:rPr>
              <a:t>1. Внедрение BI по шагам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17320"/>
            <a:ext cx="489204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554480"/>
            <a:ext cx="4297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42033"/>
                </a:solidFill>
                <a:latin typeface="Arial"/>
              </a:rPr>
              <a:t>2. История термина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06040"/>
            <a:ext cx="489204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297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42033"/>
                </a:solidFill>
                <a:latin typeface="Arial"/>
              </a:rPr>
              <a:t>3. Развитие практик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606040"/>
            <a:ext cx="489204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743200"/>
            <a:ext cx="4297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42033"/>
                </a:solidFill>
                <a:latin typeface="Arial"/>
              </a:rPr>
              <a:t>4. Развитие инструментов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Титульный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[Рекомендация: разместить титульный слайд с логотипом компании и названием темы]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Определение BI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Бизнес‑интеллект – это комплекс методологий, процессов, архитектур и технологий, направленных на сбор, хранение, обработку и анализ данных с целью преобразования их в полезную информацию для поддержки принятия решений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источники данных (операционные системы, внешние базы, файлы, потоки)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слой интеграции (ETL/ELT, очистка, трансформация, загрузка)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слой хранения (data warehouse, data mart, data lake, озеро данных)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слой семантической модели (бизнес‑глоссарий, онтологии, метаданные)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Определение BI (продолжение 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слой аналитики (отчетность, OLAP, data mining, статистический анализ, машинное обучение)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слой визуализации и доступа (дашборды, интерактивные отчеты, self‑service порталы, мобильные приложения)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слой действий и мониторинга (KPI, оповещения, автоматические решения, обратная связь в бизнес‑процессы)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[Рекомендация: разместить схему слоистой архитектуры BI]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Зачем нужно BI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Поддержка принятия решений на всех управленческих уровнях: от тактического (определение оптимального уровня запасов, корректировка ценовой политики) до стратегического (выбор новых рынков, определение долгосрочных инвестиций)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Объединение внутренних и внешних данных создает единую картину бизнеса, недостижимую при анализе только одного типа источников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Выявление скрытых закономерностей и возможностей: сегментация клиентов, прогноз спроса, обнаружение мошенничества, оптимизация цепочек поставок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Повышение эффективности процессов: сокращение времени подготовки отчетов, уменьшение количества ошибок в данных, ускорение закрытия финансовых периодов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Зачем нужно BI (продолжение 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Создание конкурентного преимущества: быстрее реагировать на изменения рынка, лучше понимать потребности клиентов, принимать обоснованные инвестиционные решения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Измерение результатов: система KPI и сбалансированных показателей позволяет отслеживать выполнение стратегии и корректировать курс в реальном времени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[Рекомендация: разместить инфографику о преимуществах BI]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Как идеально применять BI (архитектура и лучшие практики)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200" b="1" i="0">
                <a:solidFill>
                  <a:srgbClr val="142033"/>
                </a:solidFill>
                <a:latin typeface="Arial"/>
              </a:rPr>
              <a:t>Вход</a:t>
            </a:r>
            <a:r>
              <a:rPr sz="1200" b="0" i="0">
                <a:solidFill>
                  <a:srgbClr val="142033"/>
                </a:solidFill>
                <a:latin typeface="Arial"/>
              </a:rPr>
              <a:t>– сбор данных из ERP, CRM, систем логирования, внешних API, файлов, потоков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142033"/>
                </a:solidFill>
                <a:latin typeface="Arial"/>
              </a:rPr>
              <a:t>Интеграция</a:t>
            </a:r>
            <a:r>
              <a:rPr sz="1200" b="0" i="0">
                <a:solidFill>
                  <a:srgbClr val="142033"/>
                </a:solidFill>
                <a:latin typeface="Arial"/>
              </a:rPr>
              <a:t>– ETL/ELT процессы с профилированием, очисткой, дедупликацией, обогащением справочниками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142033"/>
                </a:solidFill>
                <a:latin typeface="Arial"/>
              </a:rPr>
              <a:t>Хранилище</a:t>
            </a:r>
            <a:r>
              <a:rPr sz="1200" b="0" i="0">
                <a:solidFill>
                  <a:srgbClr val="142033"/>
                </a:solidFill>
                <a:latin typeface="Arial"/>
              </a:rPr>
              <a:t>– центральное хранилище данных (data warehouse) или тематические витрины (data mart), возможно дополненное озером данных для неструктурированной информации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142033"/>
                </a:solidFill>
                <a:latin typeface="Arial"/>
              </a:rPr>
              <a:t>Семантический слой</a:t>
            </a:r>
            <a:r>
              <a:rPr sz="1200" b="0" i="0">
                <a:solidFill>
                  <a:srgbClr val="142033"/>
                </a:solidFill>
                <a:latin typeface="Arial"/>
              </a:rPr>
              <a:t>– бизнес‑глоссарий, модели измерений и фактов, метаданные о lineage и качестве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142033"/>
                </a:solidFill>
                <a:latin typeface="Arial"/>
              </a:rPr>
              <a:t>Аналитика</a:t>
            </a:r>
            <a:r>
              <a:rPr sz="1200" b="0" i="0">
                <a:solidFill>
                  <a:srgbClr val="142033"/>
                </a:solidFill>
                <a:latin typeface="Arial"/>
              </a:rPr>
              <a:t>– OLAP‑кубы для многомерного среза, статистические модели, алгоритмы машинного обучения для предиктивной и прескриптивной аналитики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Как идеально применять BI (архитектура и лучшие практики) (продолжение 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200" b="1" i="0">
                <a:solidFill>
                  <a:srgbClr val="142033"/>
                </a:solidFill>
                <a:latin typeface="Arial"/>
              </a:rPr>
              <a:t>Визуализация</a:t>
            </a:r>
            <a:r>
              <a:rPr sz="1200" b="0" i="0">
                <a:solidFill>
                  <a:srgbClr val="142033"/>
                </a:solidFill>
                <a:latin typeface="Arial"/>
              </a:rPr>
              <a:t>– интерактивные дашборды, отчеты по расписанию, self‑service порталы, встраиваемая аналитика в бизнес‑приложения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142033"/>
                </a:solidFill>
                <a:latin typeface="Arial"/>
              </a:rPr>
              <a:t>Действия</a:t>
            </a:r>
            <a:r>
              <a:rPr sz="1200" b="0" i="0">
                <a:solidFill>
                  <a:srgbClr val="142033"/>
                </a:solidFill>
                <a:latin typeface="Arial"/>
              </a:rPr>
              <a:t>– автоматические оповещения, workflow‑триггеры, обратная связь в операционные системы, мониторинг выполнения планов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создание центра компетенции по BI (BICC) или аналитики (ACC) для управления стандартами, обучения пользователей и обеспечения качества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внедрение самообслуживающего BI с четким управлением доступом и политиками безопасности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использование augmented analytics: автоматическое выявление инсайтов, объяснение отклонений метрик, генерация рекомендаций на естественном языке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Как идеально применять BI (архитектура и лучшие практики) (продолжение 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обработка неструктурированных данных (текст, логи, соцсети) с применением NLP и техники извлечения сущностей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соблюдение нормативных требований (GDPR, CCPA, отраслевые стандарты) через шифрование, контроль доступа, журналы аудита и политики хранения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непрерывный мониторинг качества данных и производительности pipelines (lag, свежесть, использование ресурсов)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[Рекомендация: разместить диаграмму слоев BI с иконками инструментов]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Внедрение BI по шагам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провести инвентаризацию источников данных, оценить их качество, частоту обновления, доступность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определить конкретные измеримые бизнес‑цели (например, сократить время подготовки месячной отчетности с 5 дней до 4 часов, увеличить кросс‑продажи на 10 % за год за счет анализа поведения клиентов)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выбрать тип решения (корпоративное хранилище данных, витрины для отдельных подразделений, гибридное озеро + склад)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определить стек технологий: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ETL – Informatica, Talend, Azure Data Factory, Apache NiFi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Внедрение BI по шагам (продолжение 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хранилища – Snowflake, Redshift, BigQuery, Azure Synapse, PostgreSQL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OLAP – SSAS, Apache Kylin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визуализация – Power BI, Tableau, Qlik Sense, Looker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платформы ML – Databricks, SageMaker, Azure ML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продумать модель безопасности: роли, права доступа, шифрование данных в покое и в движении, журналы аудита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Внедрение BI по шагам (продолжение 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выбрать use case с высокой бизнес‑ценностью и относительно простым доступом к данным (например, анализ продаж по регионам или прогноз оттока клиентов)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собрать кросс‑функциональную команду: бизнес‑аналитик, инженер данных, аналитик данных, представитель ИТ, владелец процесса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построить ETL пайплайн для выбранных источников, создать витрину данных, разработать прототип дашбордов и отчетов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провести тестирование с конечными пользователями, собрать обратную связь, скорректировать модель данных и визуализации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измерить результаты по согласованным KPI (время подготовки отчета, точность прогноза, степень удовлетворенности пользователей)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Внедрение BI по шагам (продолжение 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на основе успеха пилота утвердить дорожную карту расширения: добавить новые источники данных, увеличить количество витрин, расширить круг пользователей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внедрить процессы управления изменениями: обучение конечных пользователей, создание документации и FAQ, establishment службы поддержки и helpdesk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установить механизмы мониторинга: контроль свежести данных, отслеживание времени выполнения ETL, метрики использования дашбордов, оповещения об аномалиях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обеспечить соответствие регулятивным требованиям: настройка ролей, шифрование, политики хранения и удаления данных, регулярные аудиты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перейти к режиму постоянной эксплуатации: регулярные обновления ETL‑процессов, добавление новых источников, оптимизация запросов и агрегаций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Внедрение BI по шагам (продолжение 5)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развивать самообслуживание: предоставить бизнес‑пользователям доступ к подготовленным наборам данных и инструментам визуализации с управлением метаданными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интегрировать продвинутую аналитику и ИИ: добавить предиктивные модели, автоматическое обнаружение аномалий, естественно‑языковые запросы (например, через Copilot в Power BI)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периодически пересматривать KPI и бизнес‑цели, корректировать дорожную карту на основе полученных результатов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оценивать ROI: сравнение инвестиций в инфраструктуру и лицензии с измеренной выгодой (экономия времени, рост выручки, снижение издержек)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[Рекомендация: разместить дорожную карту внедрения BI в виде timeline]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История термина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Первое упоминание термина «business intelligence» относится к 1865 году в труде Ричарда Милларда Девенса «Cyclopaedia of Commercial and Business Anecdotes», где описывается, как банкир сэр Генри Фурнис использовал своевременную информацию о событиях для получения прибыли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В 1958 году Ханс Петер Лун из IBM использовал термин в статье «A Business Intelligence System», определяя бизнес‑интеллект как способность улавливать взаимосвязи представленных фактов для направления действий к желаемой цели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В 1989 году Говард Дреснер (позже аналитик Gartner) ввел бизнес‑интеллект как зонтичный термин для концепций и методов улучшения управленческих решений на основе фактических систем поддержки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В конце 1990‑х – начале 2000‑х годов термин получил широкое распространение благодаря внедрению первых корпоративных data warehouse и специализированных BI‑платформ (Teradata, Oracle, IBM)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[Рекомендация: разместить хронологическую линию с ключевыми датами и событиями]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Развитие практик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1" i="0">
                <a:solidFill>
                  <a:srgbClr val="142033"/>
                </a:solidFill>
                <a:latin typeface="Arial"/>
              </a:rPr>
              <a:t>Эпоха МИС (Management Information Systems):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преобладали статические отчеты и ад‑hoc запросы, фокус на оперативную отчетность и контроль выполнения планов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1" i="0">
                <a:solidFill>
                  <a:srgbClr val="142033"/>
                </a:solidFill>
                <a:latin typeface="Arial"/>
              </a:rPr>
              <a:t>1990‑е годы: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массовое внедрение data warehouse, OLAP‑кубов, multidimensional анализ; появление понятий data mart, OLAP, начало использования KPI и систем измерения эффективности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1" i="0">
                <a:solidFill>
                  <a:srgbClr val="142033"/>
                </a:solidFill>
                <a:latin typeface="Arial"/>
              </a:rPr>
              <a:t>Начало 2000‑х:</a:t>
            </a:r>
            <a:r>
              <a:rPr sz="1200" b="0" i="0">
                <a:solidFill>
                  <a:srgbClr val="142033"/>
                </a:solidFill>
                <a:latin typeface="Arial"/>
              </a:rPr>
              <a:t>распространение balanced scorecard, систем управления эффективностью, формирование центров компетенции по BI (BICC) для стандартизации и обучения пользователей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1" i="0">
                <a:solidFill>
                  <a:srgbClr val="142033"/>
                </a:solidFill>
                <a:latin typeface="Arial"/>
              </a:rPr>
              <a:t>Середина 2000‑х:</a:t>
            </a:r>
            <a:r>
              <a:rPr sz="1200" b="0" i="0">
                <a:solidFill>
                  <a:srgbClr val="142033"/>
                </a:solidFill>
                <a:latin typeface="Arial"/>
              </a:rPr>
              <a:t>рост самообслуживающего BI, появление инструментов визуализации, ориентированных на бизнес‑пользователей (Tableau основана 2003, QlikView 1993 но массовое采用 позже, Power BI 2015)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Развитие практик (продолжение 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1" i="0">
                <a:solidFill>
                  <a:srgbClr val="142033"/>
                </a:solidFill>
                <a:latin typeface="Arial"/>
              </a:rPr>
              <a:t>2010‑е годы: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интеграция больших данных, работа с данными озерами (data lake), Hadoop, Spark; рост интереса к data discovery, data preparation и работе с неструктурированными данными (текст, логи, соцсети)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1" i="0">
                <a:solidFill>
                  <a:srgbClr val="142033"/>
                </a:solidFill>
                <a:latin typeface="Arial"/>
              </a:rPr>
              <a:t>Конец 2010‑х – настоящее время:</a:t>
            </a:r>
            <a:r>
              <a:rPr sz="1200" b="0" i="0">
                <a:solidFill>
                  <a:srgbClr val="142033"/>
                </a:solidFill>
                <a:latin typeface="Arial"/>
              </a:rPr>
              <a:t>augmented analytics (автоматическое выявление инсайтов, объяснение причин изменения метрик, естественно‑языковые интерфейсы), внедрение машинного обучения и ИИ в BI‑платформы, рост аналитики в реальном времени и stream processing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1" i="0">
                <a:solidFill>
                  <a:srgbClr val="142033"/>
                </a:solidFill>
                <a:latin typeface="Arial"/>
              </a:rPr>
              <a:t>Современные тренды:</a:t>
            </a:r>
            <a:r>
              <a:rPr sz="1200" b="0" i="0">
                <a:solidFill>
                  <a:srgbClr val="142033"/>
                </a:solidFill>
                <a:latin typeface="Arial"/>
              </a:rPr>
              <a:t>data mesh, data fabric, data observability, управляемый доступ к данным как продукт, встраиваемая аналитика (embedded analytics) в SaaS‑приложения, расширение использования метаданного каталога и lineage tracking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[Рекомендация: разместить инфографику эволюции практик BI]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Развитие инструментов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1" i="0">
                <a:solidFill>
                  <a:srgbClr val="142033"/>
                </a:solidFill>
                <a:latin typeface="Arial"/>
              </a:rPr>
              <a:t>1990‑е:</a:t>
            </a:r>
            <a:r>
              <a:rPr sz="1200" b="0" i="0">
                <a:solidFill>
                  <a:srgbClr val="142033"/>
                </a:solidFill>
                <a:latin typeface="Arial"/>
              </a:rPr>
              <a:t>первые OLAP‑сервисы (Essbase, Oracle Express), инструменты стаФорматирование и рекомендации по иллюстрациям добавлены к исходным пяти слайдам презентации. Дополнительные слайды не добавлялись, чтобы сохранить исходную структуру и количество слайдов черновика. Готово к использованию.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