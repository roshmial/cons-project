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7F9FC"/>
                </a:solidFill>
                <a:latin typeface="Arial"/>
              </a:rPr>
              <a:t>• Вывод</a:t>
            </a:r>
          </a:p>
          <a:p>
            <a:r>
              <a:rPr sz="1400" b="0" i="0">
                <a:solidFill>
                  <a:srgbClr val="F7F9FC"/>
                </a:solidFill>
                <a:latin typeface="Arial"/>
              </a:rPr>
              <a:t>• Развитие инструментов</a:t>
            </a:r>
          </a:p>
          <a:p>
            <a:r>
              <a:rPr sz="1400" b="0" i="0">
                <a:solidFill>
                  <a:srgbClr val="F7F9FC"/>
                </a:solidFill>
                <a:latin typeface="Arial"/>
              </a:rPr>
              <a:t>• Вывод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Структура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1. Вывод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2. Развитие инструментов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3. Вывод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0604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4. Резюме и рекомендации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Вывод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Практики BI эволюционировали от статической отчётности к динамичной, самообслуживающей и ИИ‑усиленной аналитике, что ускоряет извлечение ценности из данных и повышает гибкость принятия решений.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![Эволюция практик BI](https://example.com/images/bi</a:t>
            </a:r>
            <a:r>
              <a:rPr sz="1200" b="0" i="1">
                <a:solidFill>
                  <a:srgbClr val="142033"/>
                </a:solidFill>
                <a:latin typeface="Arial"/>
              </a:rPr>
              <a:t>practices</a:t>
            </a:r>
            <a:r>
              <a:rPr sz="1200" b="0" i="0">
                <a:solidFill>
                  <a:srgbClr val="142033"/>
                </a:solidFill>
                <a:latin typeface="Arial"/>
              </a:rPr>
              <a:t>evolution.png)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Развитие инструментов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1990‑е: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первые OLAP‑сервисы (Essbase, Oracle Express), инструменты статической отчетности (Crystal Reports, MicroStrategy Dysigner), ранние ETL‑решения (Informatica PowerCenter, DataStage).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2000‑2010: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рост комплексных BI‑платформ (IBM Cognos, SAP BusinessObjects, SAS BI, Microsoft SQL Server Reporting Services + Analysis Services); расширение возможностей OLAP и scorecard; появление специализированных решений для качества данных (Informatica Data Quality, Trillium).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2010‑2020: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взрыв облачных BI и визуализации (Tableau Public 2010, Qlik Sense 2014, Microsoft Power BI 2015, Looker 2012, Domo 2010); облачные хранилища данных (Amazon Redshift 2012, Snowflake 2012, Google BigQuery 2010, Azure SQL Data Warehouse 2016); облачные ETL/ELT (Talend Cloud, Azure Data Factory, AWS Glue, Fivetran, Stitch, Matillion); рост открытых решений (Apache Superset, Metabase, Redash, Apache Druid, ClickHouse).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2020‑настоящее: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внедрение ИИ/ML непосредственно в BI‑платформы (Power BI AI insights, Tableau Einstein Discovery, Sisense SensQL, Looker blocks); автоматизированная подготовка данных (DataRobot, Trifacta); augmented analytics (автоматическое выявление корреляций, объяснение аномалий); natural language интерфейсы (Q&amp;A в Power BI, Ask Data в Tableau, интеграция с GPT‑based copilots); платформы управления метаданными и каталогом данных (Alation, Collibra, Amundsen, DataHub); инструменты observability данных (Monte Carlo, Bigeye); архитектуры data mesh и data fabric (Databricks Unity Catalog, Starburst); реальное‑время и stream‑аналитика (Apache Kafka, ksqlDB, Flink, AWS Kinesis, Azure Stream Analytics).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Вывод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Развитие инструментов BI демонстрирует переход от монолитных локальных стеков к гибридным и облачным экосистемам, где сочетаются самообслуживание, обработка больших данных и встроенный искусственный интеллект, что ускоряет доставку инсайтов и снижает барьер входа для бизнес‑пользователей.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![Эволюция инструментов BI](https://example.com/images/bi</a:t>
            </a:r>
            <a:r>
              <a:rPr sz="1200" b="0" i="1">
                <a:solidFill>
                  <a:srgbClr val="142033"/>
                </a:solidFill>
                <a:latin typeface="Arial"/>
              </a:rPr>
              <a:t>tools</a:t>
            </a:r>
            <a:r>
              <a:rPr sz="1200" b="0" i="0">
                <a:solidFill>
                  <a:srgbClr val="142033"/>
                </a:solidFill>
                <a:latin typeface="Arial"/>
              </a:rPr>
              <a:t>evolution.png)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Резюме и рекомендации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Бизнес‑интеллект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преобразует сырые данные в значимую информацию, поддерживая принятие решений на всех уровнях организации – от операционных до стратегических.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Успешное внедрение BI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требует: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Четкой бизнес‑стратегии и измеримых целей (сокращение времени отчетности, рост выручки, снижение издержек).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Качественной архитектуры данных: единый источник правды, надёжные ETL/ELT процессы, управляемый метаданными слой и политика управления данными.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Культуры данных: обучение пользователей, создание центра компетенции (BICC/ACC) и внедрение самообслуживающих инструментов с соответствующим управлением доступом.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Резюме и рекомендации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Постепенного расширения: старт с пилотного use‑case высокой ценности, измерение KPI, масштабирование источников и пользователей, добавление самообслуживания, затем augmented analytics и ИИ‑драйвленных инсайтов.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Непрерывного мониторинга и оптимизации: контроль свежести данных, производительности пайплайнов, использования дашбордов, соблюдения регулятивных требований (GDPR, CCPA, отраслевые стандарты).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Оценки ROI: сопоставление инвестиций в инфраструктуру и лицензии с измеренной выгодой (экономия времени, рост выручки, снижение издержек).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![Резюме BI](https://example.com/images/bi</a:t>
            </a:r>
            <a:r>
              <a:rPr sz="1200" b="0" i="1">
                <a:solidFill>
                  <a:srgbClr val="142033"/>
                </a:solidFill>
                <a:latin typeface="Arial"/>
              </a:rPr>
              <a:t>summary.png)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