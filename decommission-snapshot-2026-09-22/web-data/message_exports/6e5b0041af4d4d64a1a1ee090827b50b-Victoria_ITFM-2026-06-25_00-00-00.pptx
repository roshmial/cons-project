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7F9FC"/>
                </a:solidFill>
                <a:latin typeface="Aptos"/>
              </a:rPr>
              <a:t>Hermes Web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ptos"/>
              </a:rPr>
              <a:t>Victoria ITFM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7F9FC"/>
                </a:solidFill>
                <a:latin typeface="Aptos"/>
              </a:rPr>
              <a:t>Слайд 1 – Титульный</a:t>
            </a:r>
          </a:p>
          <a:p>
            <a:r>
              <a:rPr sz="1300" b="0" i="0">
                <a:solidFill>
                  <a:srgbClr val="F7F9FC"/>
                </a:solidFill>
                <a:latin typeface="Aptos"/>
              </a:rPr>
              <a:t>Управление затратами и прозрачностью ИТ</a:t>
            </a:r>
          </a:p>
          <a:p>
            <a:r>
              <a:rPr sz="1300" b="0" i="0">
                <a:solidFill>
                  <a:srgbClr val="F7F9FC"/>
                </a:solidFill>
                <a:latin typeface="Aptos"/>
              </a:rPr>
              <a:t>Связь ИТ-услуг с финансовой моделью бизнеса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097280"/>
            <a:ext cx="2743200" cy="4389120"/>
          </a:xfrm>
          <a:prstGeom prst="roundRect">
            <a:avLst/>
          </a:prstGeom>
          <a:solidFill>
            <a:srgbClr val="21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417320"/>
            <a:ext cx="21031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Aptos"/>
              </a:rPr>
              <a:t>Тема</a:t>
            </a:r>
            <a:r>
              <a:rPr sz="1400" b="0" i="0">
                <a:solidFill>
                  <a:srgbClr val="FFFFFF"/>
                </a:solidFill>
                <a:latin typeface="Aptos"/>
              </a:rPr>
              <a:t>ITFM</a:t>
            </a:r>
          </a:p>
          <a:p>
            <a:r>
              <a:rPr sz="1400" b="1" i="0">
                <a:solidFill>
                  <a:srgbClr val="FFFFFF"/>
                </a:solidFill>
                <a:latin typeface="Aptos"/>
              </a:rPr>
              <a:t>Формат</a:t>
            </a:r>
            <a:r>
              <a:rPr sz="1400" b="0" i="0">
                <a:solidFill>
                  <a:srgbClr val="FFFFFF"/>
                </a:solidFill>
                <a:latin typeface="Aptos"/>
              </a:rPr>
              <a:t>DOCX / PPTX</a:t>
            </a:r>
          </a:p>
          <a:p>
            <a:r>
              <a:rPr sz="1400" b="1" i="0">
                <a:solidFill>
                  <a:srgbClr val="FFFFFF"/>
                </a:solidFill>
                <a:latin typeface="Aptos"/>
              </a:rPr>
              <a:t>Источник</a:t>
            </a:r>
            <a:r>
              <a:rPr sz="1400" b="0" i="0">
                <a:solidFill>
                  <a:srgbClr val="FFFFFF"/>
                </a:solidFill>
                <a:latin typeface="Aptos"/>
              </a:rPr>
              <a:t>generated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67085"/>
                </a:solidFill>
                <a:latin typeface="Aptos"/>
              </a:rPr>
              <a:t>Victoria ITFM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142033"/>
                </a:solidFill>
                <a:latin typeface="Aptos"/>
              </a:rPr>
              <a:t>Слайд 1 – Титульный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99669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42033"/>
                </a:solidFill>
                <a:latin typeface="Aptos"/>
              </a:rPr>
              <a:t>Заголовок:</a:t>
            </a:r>
            <a:r>
              <a:rPr sz="1800" b="0" i="0">
                <a:solidFill>
                  <a:srgbClr val="142033"/>
                </a:solidFill>
                <a:latin typeface="Aptos"/>
              </a:rPr>
              <a:t>ITFM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42033"/>
                </a:solidFill>
                <a:latin typeface="Aptos"/>
              </a:rPr>
              <a:t>Подзаголовок:</a:t>
            </a:r>
            <a:r>
              <a:rPr sz="1800" b="0" i="0">
                <a:solidFill>
                  <a:srgbClr val="142033"/>
                </a:solidFill>
                <a:latin typeface="Aptos"/>
              </a:rPr>
              <a:t>Виктория • 25 июня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868680"/>
            <a:ext cx="914400" cy="310896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2448" y="896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ptos"/>
              </a:rPr>
              <a:t>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67085"/>
                </a:solidFill>
                <a:latin typeface="Aptos"/>
              </a:rPr>
              <a:t>Victoria ITFM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142033"/>
                </a:solidFill>
                <a:latin typeface="Aptos"/>
              </a:rPr>
              <a:t>Слайд 2 – Что такое IT Financial Management?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99669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142033"/>
                </a:solidFill>
              </a:rPr>
              <a:t>• </a:t>
            </a:r>
            <a:r>
              <a:rPr sz="1800" b="0" i="0">
                <a:solidFill>
                  <a:srgbClr val="142033"/>
                </a:solidFill>
                <a:latin typeface="Aptos"/>
              </a:rPr>
              <a:t>Управление затратами и прозрачностью ИТ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142033"/>
                </a:solidFill>
              </a:rPr>
              <a:t>• </a:t>
            </a:r>
            <a:r>
              <a:rPr sz="1800" b="0" i="0">
                <a:solidFill>
                  <a:srgbClr val="142033"/>
                </a:solidFill>
                <a:latin typeface="Aptos"/>
              </a:rPr>
              <a:t>Связь ИТ-услуг с финансовой моделью бизнеса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868680"/>
            <a:ext cx="914400" cy="310896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2448" y="896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ptos"/>
              </a:rPr>
              <a:t>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142033"/>
                </a:solidFill>
                <a:latin typeface="Aptos"/>
              </a:rPr>
              <a:t>Слайд 3 –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667085"/>
                </a:solidFill>
                <a:latin typeface="Aptos"/>
              </a:rPr>
              <a:t>Структурированная таблица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2033"/>
                          </a:solidFill>
                          <a:latin typeface="Aptos"/>
                        </a:rPr>
                        <a:t>Роль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2033"/>
                          </a:solidFill>
                          <a:latin typeface="Aptos"/>
                        </a:rPr>
                        <a:t>Зона ответственности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33"/>
                          </a:solidFill>
                          <a:latin typeface="Aptos"/>
                        </a:rPr>
                        <a:t>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33"/>
                          </a:solidFill>
                          <a:latin typeface="Aptos"/>
                        </a:rPr>
                        <a:t>Спонсор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33"/>
                          </a:solidFill>
                          <a:latin typeface="Aptos"/>
                        </a:rPr>
                        <a:t>Архитектор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33"/>
                          </a:solidFill>
                          <a:latin typeface="Aptos"/>
                        </a:rPr>
                        <a:t>Целевой контур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332720" y="566928"/>
            <a:ext cx="1097280" cy="310896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7312" y="5943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