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Live PPTX probe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Сообщение #948</a:t>
            </a:r>
          </a:p>
          <a:p>
            <a:r>
              <a:t>2026-06-25T19:48:13+00:00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Чат: Live PPTX probe 2</a:t>
            </a:r>
          </a:p>
          <a:p>
            <a:pPr/>
            <a:r>
              <a:t>Сообщение: #948</a:t>
            </a:r>
          </a:p>
          <a:p>
            <a:pPr/>
            <a:r>
              <a:t>Дата: 2026-06-25T19:48:13+00:00</a:t>
            </a:r>
          </a:p>
          <a:p>
            <a:pPr/>
            <a:r>
              <a:t>Слайд 1: Титульный лист</a:t>
            </a:r>
          </a:p>
          <a:p>
            <a:pPr/>
            <a:r>
              <a:t>Презентация по итогам интервью с клиентом</a:t>
            </a:r>
          </a:p>
          <a:p>
            <a:pPr/>
            <a:r>
              <a:t>Клиент: ООО «Пример»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Дата: 25 июня 2026 г.</a:t>
            </a:r>
          </a:p>
          <a:p>
            <a:pPr/>
            <a:r>
              <a:t>Подготовил: Консультант Hermes</a:t>
            </a:r>
          </a:p>
          <a:p>
            <a:pPr/>
            <a:r>
              <a:t>Слайд 2: Повестка дня</a:t>
            </a:r>
          </a:p>
          <a:p>
            <a:pPr/>
            <a:r>
              <a:t>Краткая информация о клиенте</a:t>
            </a:r>
          </a:p>
          <a:p>
            <a:pPr/>
            <a:r>
              <a:t>Ключевые выводы из интервью</a:t>
            </a:r>
          </a:p>
          <a:p>
            <a:pPr/>
            <a:r>
              <a:t>Выявленные боли и потребности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Предлагаемое решение</a:t>
            </a:r>
          </a:p>
          <a:p>
            <a:pPr/>
            <a:r>
              <a:t>Ожидаемые выгоды</a:t>
            </a:r>
          </a:p>
          <a:p>
            <a:pPr/>
            <a:r>
              <a:t>План реализации</a:t>
            </a:r>
          </a:p>
          <a:p>
            <a:pPr/>
            <a:r>
              <a:t>Бюджет и сроки</a:t>
            </a:r>
          </a:p>
          <a:p>
            <a:pPr/>
            <a:r>
              <a:t>Риски и меры снижения рисков</a:t>
            </a:r>
          </a:p>
          <a:p>
            <a:pPr/>
            <a:r>
              <a:t>Следующие шаги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Заключение и вопросы</a:t>
            </a:r>
          </a:p>
          <a:p>
            <a:pPr/>
            <a:r>
              <a:t>Слайд 3: Краткая информация о клиенте</a:t>
            </a:r>
          </a:p>
          <a:p>
            <a:pPr/>
            <a:r>
              <a:t>ООО «Пример» – среднее производственное предприятие</a:t>
            </a:r>
          </a:p>
          <a:p>
            <a:pPr/>
            <a:r>
              <a:t>Отрасль: производство металлоизделий</a:t>
            </a:r>
          </a:p>
          <a:p>
            <a:pPr/>
            <a:r>
              <a:t>Штаб-квартира: г. Москва</a:t>
            </a:r>
          </a:p>
          <a:p>
            <a:pPr/>
            <a:r>
              <a:t>Численность сотрудников: 250 человек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Годовой оборот: 3,2 млрд руб.</a:t>
            </a:r>
          </a:p>
          <a:p>
            <a:pPr/>
            <a:r>
              <a:t>Основные клиенты: сетевые ритейлеры и промышленные предприятия</a:t>
            </a:r>
          </a:p>
          <a:p>
            <a:pPr/>
            <a:r>
              <a:t>Слайд 4: Ключевые выводы из интервью</a:t>
            </a:r>
          </a:p>
          <a:p>
            <a:pPr/>
            <a:r>
              <a:t>Руководство отметило рост заказов на 18% за последний год</a:t>
            </a:r>
          </a:p>
          <a:p>
            <a:pPr/>
            <a:r>
              <a:t>Текущая ERP‑система устарела и не поддерживает интеграцию с новыми каналами продаж</a:t>
            </a:r>
          </a:p>
          <a:p>
            <a:pPr/>
            <a:r>
              <a:t>Отсутствие единой аналитической платформы замедляет принятие решений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Выражен запрос на повышение прозрачности цепочки поставок</a:t>
            </a:r>
          </a:p>
          <a:p>
            <a:pPr/>
            <a:r>
              <a:t>Необходимость сокращения времени закрытия месячной отчетности с 10 до 5 дней</a:t>
            </a:r>
          </a:p>
          <a:p>
            <a:pPr/>
            <a:r>
              <a:t>Слайд 5: Выявленные боли и потребности</a:t>
            </a:r>
          </a:p>
          <a:p>
            <a:pPr/>
            <a:r>
              <a:t>Боль 1: Ручные операции при вводе данных ведут к ошибкам и задержкам</a:t>
            </a:r>
          </a:p>
          <a:p>
            <a:pPr/>
            <a:r>
              <a:t>Боль 2: Отсутствие реального времени видимости остатков на складах</a:t>
            </a:r>
          </a:p>
          <a:p>
            <a:pPr/>
            <a:r>
              <a:t>Боль 3: Сложности в планировании производства из‑за разрозненных данных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Потребность 1: Переход на облачную ERP с модулем планирования производства</a:t>
            </a:r>
          </a:p>
          <a:p>
            <a:pPr/>
            <a:r>
              <a:t>Потребность 2: Внедрение системы аналитики в реальном времени</a:t>
            </a:r>
          </a:p>
          <a:p>
            <a:pPr/>
            <a:r>
              <a:t>Потребность 3: Автоматизация документооборота с поставщиками</a:t>
            </a:r>
          </a:p>
          <a:p>
            <a:pPr/>
            <a:r>
              <a:t>Слайд 6: Предлагаемое решение</a:t>
            </a:r>
          </a:p>
          <a:p>
            <a:pPr/>
            <a:r>
              <a:t>Этап 1: Оценка текущей инфраструктуры и определение требований к новой ERP</a:t>
            </a:r>
          </a:p>
          <a:p>
            <a:pPr/>
            <a:r>
              <a:t>Этап 2: Выбор и настройка облачной ERP‑платформы (SAP S/4HANA Cloud или аналог)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Этап 3: Интеграция с существующими системами MES и CRM</a:t>
            </a:r>
          </a:p>
          <a:p>
            <a:pPr/>
            <a:r>
              <a:t>Этап 4: Внедрение модуля аналитики и дашбордов для руководства</a:t>
            </a:r>
          </a:p>
          <a:p>
            <a:pPr/>
            <a:r>
              <a:t>Этап 5: Обучение персонала и переход на промышленную эксплуатацию</a:t>
            </a:r>
          </a:p>
          <a:p>
            <a:pPr/>
            <a:r>
              <a:t>Слайд 7: Ожидаемые выгоды</a:t>
            </a:r>
          </a:p>
          <a:p>
            <a:pPr/>
            <a:r>
              <a:t>Сокращение времени закрытия месячной отчетности на 50%</a:t>
            </a:r>
          </a:p>
          <a:p>
            <a:pPr/>
            <a:r>
              <a:t>Снижение операционных расходов на обработку данных на 20%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Увеличение точности прогноза спроса до 92%</a:t>
            </a:r>
          </a:p>
          <a:p>
            <a:pPr/>
            <a:r>
              <a:t>Сокращение простоев производства за счет лучшего планирования на 15%</a:t>
            </a:r>
          </a:p>
          <a:p>
            <a:pPr/>
            <a:r>
              <a:t>Повышение удовлетворенности клиентов благодаря более точным срокам поставок</a:t>
            </a:r>
          </a:p>
          <a:p>
            <a:pPr/>
            <a:r>
              <a:t>Слайд 8: План реализации</a:t>
            </a:r>
          </a:p>
          <a:p>
            <a:pPr/>
            <a:r>
              <a:t>Месяц 1–2: Аудит текущих процессов, формирование технического задания</a:t>
            </a:r>
          </a:p>
          <a:p>
            <a:pPr/>
            <a:r>
              <a:t>Месяц 3–4: Настройка и кастомизация ERP‑системы, пилотный запуск в одном подразделении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Месяц 5: Интеграция с MES и CRM, обучение ключевых пользователей</a:t>
            </a:r>
          </a:p>
          <a:p>
            <a:pPr/>
            <a:r>
              <a:t>Месяц 6: Полный запуск, переход на промышленную эксплуатация, пост‑внедренческая поддержка</a:t>
            </a:r>
          </a:p>
          <a:p>
            <a:pPr/>
            <a:r>
              <a:t>Слайд 9: Бюджет и сроки</a:t>
            </a:r>
          </a:p>
          <a:p>
            <a:pPr/>
            <a:r>
              <a:t>Общий бюджет проекта: 4,8 млн руб.</a:t>
            </a:r>
          </a:p>
          <a:p>
            <a:pPr/>
            <a:r>
              <a:t>Лицензии и подписка на облачную ERP: 2,2 млн руб.</a:t>
            </a:r>
          </a:p>
          <a:p>
            <a:pPr/>
            <a:r>
              <a:t>Услуги по внедрению и интеграции: 1,8 млн руб.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Обучение и управление изменениями: 0,5 млн руб.</a:t>
            </a:r>
          </a:p>
          <a:p>
            <a:pPr/>
            <a:r>
              <a:t>Резерв на непредвиденные расходы: 0,3 млн руб.</a:t>
            </a:r>
          </a:p>
          <a:p>
            <a:pPr/>
            <a:r>
              <a:t>Срок реализации: 6 месяцев с момента подписания контракта</a:t>
            </a:r>
          </a:p>
          <a:p>
            <a:pPr/>
            <a:r>
              <a:t>Слайд 10: Риски и меры снижения рисков</a:t>
            </a:r>
          </a:p>
          <a:p>
            <a:pPr/>
            <a:r>
              <a:t>Риск 1: Сопротивление сотрудников изменениям</a:t>
            </a:r>
          </a:p>
          <a:p>
            <a:pPr/>
            <a:r>
              <a:t>Мера: Программа изменений, вовлечение ключевых пользователей, пилотные группы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Риск 2: Задержки в миграции данных</a:t>
            </a:r>
          </a:p>
          <a:p>
            <a:pPr/>
            <a:r>
              <a:t>Мера: Детальная карта данных, пилотная миграция, резервные копии</a:t>
            </a:r>
          </a:p>
          <a:p>
            <a:pPr/>
            <a:r>
              <a:t>Риск 3: Несоответствие функциональности выбранной системы требованиям</a:t>
            </a:r>
          </a:p>
          <a:p>
            <a:pPr/>
            <a:r>
              <a:t>Мера: Прототипирование и тестирование на ранних этапах, гибкая настройка</a:t>
            </a:r>
          </a:p>
          <a:p>
            <a:pPr/>
            <a:r>
              <a:t>Слайд 11: Следующие шаги</a:t>
            </a:r>
          </a:p>
          <a:p>
            <a:pPr/>
            <a:r>
              <a:t>Согласовать итоги интервью с заказчиком (до 30 июня)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Подписать коммерческое предложение и контракт (до 10 июля)</a:t>
            </a:r>
          </a:p>
          <a:p>
            <a:pPr/>
            <a:r>
              <a:t>Начать этап аудита и формирования ТЗ (с 15 июля)</a:t>
            </a:r>
          </a:p>
          <a:p>
            <a:pPr/>
            <a:r>
              <a:t>Назначить ответственных сторон заказчика и исполнителя</a:t>
            </a:r>
          </a:p>
          <a:p>
            <a:pPr/>
            <a:r>
              <a:t>Запланировать еженедельные статус‑встречи</a:t>
            </a:r>
          </a:p>
          <a:p>
            <a:pPr/>
            <a:r>
              <a:t>Слайд 12: Заключение и вопросы</a:t>
            </a:r>
          </a:p>
          <a:p>
            <a:pPr/>
            <a:r>
              <a:t>Благодарим за внимание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Готовы ответить на вопросы</a:t>
            </a:r>
          </a:p>
          <a:p>
            <a:pPr/>
            <a:r>
              <a:t>Контактное лицо: Иванов Иван, ведущий консультант</a:t>
            </a:r>
          </a:p>
          <a:p>
            <a:pPr/>
            <a:r>
              <a:t>Тел.: +7 (495) 123‑45‑67</a:t>
            </a:r>
          </a:p>
          <a:p>
            <a:pPr/>
            <a:r>
              <a:t>Email: i.ivanov@hermes-consulting.ru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