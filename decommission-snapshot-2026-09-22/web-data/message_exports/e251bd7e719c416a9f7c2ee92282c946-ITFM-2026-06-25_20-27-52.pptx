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ITFM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Сообщение #950</a:t>
            </a:r>
          </a:p>
          <a:p>
            <a:r>
              <a:t>2026-06-25T20:27:52+00:00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Чат: ITFM</a:t>
            </a:r>
          </a:p>
          <a:p>
            <a:pPr/>
            <a:r>
              <a:t>Сообщение: #950</a:t>
            </a:r>
          </a:p>
          <a:p>
            <a:pPr/>
            <a:r>
              <a:t>Дата: 2026-06-25T20:27:52+00:00</a:t>
            </a:r>
          </a:p>
          <a:p>
            <a:pPr/>
            <a:r>
              <a:t>**IT Financial Management (ITFM) – кратко и по делу**</a:t>
            </a:r>
          </a:p>
          <a:p>
            <a:pPr/>
            <a:r>
              <a:t>**Что такое ITFM**</a:t>
            </a:r>
          </a:p>
          <a:p>
            <a:pPr/>
            <a:r>
              <a:t>IT Financial Management (управление финансами ИТ) – это дисциплина, направленная на планирование, учёт, контроль и reporting (отчётность) расходов на ИТ‑услуги и инфраструктуру с целью обеспечения прозрачности затрат, их оптимизации и согласования с бизнес‑целями организации.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**Зачем оно нужно**</a:t>
            </a:r>
          </a:p>
          <a:p>
            <a:pPr/>
            <a:r>
              <a:t>- **Прозрачность затрат** – понятная структура расходов по статьям, сервисам, проектам и бизнес‑подразделениям.</a:t>
            </a:r>
          </a:p>
          <a:p>
            <a:pPr/>
            <a:r>
              <a:t>- **Оптимизация расходов** – выявление избыточных затрат, оптимизация лицензий, облачных ресурсов, аутсорсинга.</a:t>
            </a:r>
          </a:p>
          <a:p>
            <a:pPr/>
            <a:r>
              <a:t>- **Поддержка принятия решений** – данные о стоимости услуг служат основой для budgeting, инвестиционных обоснований, ценообразования (charge‑back/show‑back).</a:t>
            </a:r>
          </a:p>
          <a:p>
            <a:pPr/>
            <a:r>
              <a:t>- **Соответствие требованиям** – выполнение требований корпоративного управления, регулятивных стандартов (SOX, GDPR) и внутренних аудитов.</a:t>
            </a:r>
          </a:p>
          <a:p>
            <a:pPr/>
            <a:r>
              <a:t>- **Связь ИТ и бизнеса** – позволяет говорить на одном языке о ценности ИТ‑инвестиций.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**Как идеально применяется**</a:t>
            </a:r>
          </a:p>
          <a:p>
            <a:pPr/>
            <a:r>
              <a:t>В зрелой организации ITFM интегрируется в следующие практики:</a:t>
            </a:r>
          </a:p>
          <a:p>
            <a:pPr/>
            <a:r>
              <a:t>| Область | Что делается | Типичные инструменты/подходы |</a:t>
            </a:r>
          </a:p>
          <a:p>
            <a:pPr/>
            <a:r>
              <a:t>|--------|--------------|------------------------------|</a:t>
            </a:r>
          </a:p>
          <a:p>
            <a:pPr/>
            <a:r>
              <a:t>| Бюджетирование и планирование | Формирование年度‑ и многолетних бюджетов ИТ, согласование с бизнес‑планами | SAP BPC, Oracle Hyperion, Adaptive Insights |</a:t>
            </a:r>
          </a:p>
          <a:p>
            <a:pPr/>
            <a:r>
              <a:t>| Учёт и распределение затрат | Создание модели затрат (cost pools, драйверы分配), распределение по сервисам, приложениям, облакам | Apptio, Cloudability, ServiceNow Financial Management, Flexera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| Charge‑back / Show‑back | Внутреннее выставление счетов или предоставление прозрачной отчётности о потреблении ресурсов | Та же стек‑suite, пользовательские дашборды Power BI/Tableau |</a:t>
            </a:r>
          </a:p>
          <a:p>
            <a:pPr/>
            <a:r>
              <a:t>| Оптимизация и benchmarking | Сравнение с отраслевыми нормативами, выявление возможностей экономии | Gartner IT Key Metrics Data, IDC IT Spending Guides |</a:t>
            </a:r>
          </a:p>
          <a:p>
            <a:pPr/>
            <a:r>
              <a:t>| Управление активами и лицензиями | Инвентаризация, отслеживание использования, оптимизация лицензий | Flexera, Snow License Manager, Lansweeper |</a:t>
            </a:r>
          </a:p>
          <a:p>
            <a:pPr/>
            <a:r>
              <a:t>| Отчётность и аналитика | Регулярные дашборды, анализ трендов, прогнозирование | Power BI, Tableau, Qlik, встроенные отчёты в ITSM‑платформах |</a:t>
            </a:r>
          </a:p>
          <a:p>
            <a:pPr/>
            <a:r>
              <a:t>**Как внедрить ITFM – пошаговый план**</a:t>
            </a:r>
          </a:p>
          <a:p>
            <a:pPr/>
            <a:r>
              <a:t>1. **Оценка текущего состояния**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Инвентаризация всех источников данных о расходах (финансовые системы, CMDB, облачные счета, лицензирующие площадки).</a:t>
            </a:r>
          </a:p>
          <a:p>
            <a:pPr/>
            <a:r>
              <a:t>- Оценка качества данных, пробелов в учёте, существующих процессов бюджетирования и отчётности.</a:t>
            </a:r>
          </a:p>
          <a:p>
            <a:pPr/>
            <a:r>
              <a:t>2. **Определение целей и_scope**</a:t>
            </a:r>
          </a:p>
          <a:p>
            <a:pPr/>
            <a:r>
              <a:t>- Что именно нужно контролировать (CAPEX/OPEX, облачные сервисы, внутренние разработки, аутсорсинг).</a:t>
            </a:r>
          </a:p>
          <a:p>
            <a:pPr/>
            <a:r>
              <a:t>- Ключевые показатели (KPIs): стоимость единицы услуги, % отклонения бюджета, показатель стоимости на пользователя, ROI проектов.</a:t>
            </a:r>
          </a:p>
          <a:p>
            <a:pPr/>
            <a:r>
              <a:t>3. **Проектирование модели затрат**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Выбор метода распределения: прямые затраты, пропорциональное распределение (по пользователям, транзакциям, объёму данных), гибридные модели.</a:t>
            </a:r>
          </a:p>
          <a:p>
            <a:pPr/>
            <a:r>
              <a:t>- Определение cost pools (например, «инфраструктура», «приложения», «поддержка», «облачные сервисы»).</a:t>
            </a:r>
          </a:p>
          <a:p>
            <a:pPr/>
            <a:r>
              <a:t>4. **Выбор и настройка инструмента**</a:t>
            </a:r>
          </a:p>
          <a:p>
            <a:pPr/>
            <a:r>
              <a:t>- Оценка готового решения (Apptio, Cloudability, ServiceNow Financial Management, Flexera) либо построение собственного хранилища данных (data warehouse) с ETL‑процессами.</a:t>
            </a:r>
          </a:p>
          <a:p>
            <a:pPr/>
            <a:r>
              <a:t>- Настройка интеграции с ERP, CMDB, облачными провайдерами (AWS Cost Explorer, Azure Cost Management, GCP Billing).</a:t>
            </a:r>
          </a:p>
          <a:p>
            <a:pPr/>
            <a:r>
              <a:t>5. **Сбор и автоматизация данных**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Обеспечение регулярной загрузки данных о расходах, потреблении ресурсов, лицензиях.</a:t>
            </a:r>
          </a:p>
          <a:p>
            <a:pPr/>
            <a:r>
              <a:t>- Валидация и очистка данных (удаление дубликатов, приведение к единой валюте, учёт налогов).</a:t>
            </a:r>
          </a:p>
          <a:p>
            <a:pPr/>
            <a:r>
              <a:t>6. **Организация управления (governance)**</a:t>
            </a:r>
          </a:p>
          <a:p>
            <a:pPr/>
            <a:r>
              <a:t>- Назначение ролей: владелец модели (IT finance owner), ответственные за сбор данных (finance analysts, asset owners), комитет по контролю затрат.</a:t>
            </a:r>
          </a:p>
          <a:p>
            <a:pPr/>
            <a:r>
              <a:t>- Утверждение политик и процедур (частотa обновления, уровни утверждения изменений в модели).</a:t>
            </a:r>
          </a:p>
          <a:p>
            <a:pPr/>
            <a:r>
              <a:t>7. **Пилотный запуск и доработка**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Выбор ограниченного набора сервисов или бизнес‑подразделений для теста.</a:t>
            </a:r>
          </a:p>
          <a:p>
            <a:pPr/>
            <a:r>
              <a:t>- Сравнение план‑факт, корректировка драйверов分配, уточнение отчётных форматов.</a:t>
            </a:r>
          </a:p>
          <a:p>
            <a:pPr/>
            <a:r>
              <a:t>8. **Полномасштабное внедрение и регулярная отчётность**</a:t>
            </a:r>
          </a:p>
          <a:p>
            <a:pPr/>
            <a:r>
              <a:t>- Ежемесячные/квартальные дашборды для CIO, CFO и бизнес‑руководителей.</a:t>
            </a:r>
          </a:p>
          <a:p>
            <a:pPr/>
            <a:r>
              <a:t>- Автоматизированные алерты о превышении бюджета или аномальных тратах.</a:t>
            </a:r>
          </a:p>
          <a:p>
            <a:pPr/>
            <a:r>
              <a:t>9. **Непрерывное улучшение**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Периодический пересмотр модели затрат (например, ежегодно).</a:t>
            </a:r>
          </a:p>
          <a:p>
            <a:pPr/>
            <a:r>
              <a:t>- Включение новых источников данных (например, сервис‑меш, Kubernetes‑кластеры).</a:t>
            </a:r>
          </a:p>
          <a:p>
            <a:pPr/>
            <a:r>
              <a:t>- Обучение пользователей и повышение финансовой грамотности ИТ‑команды.</a:t>
            </a:r>
          </a:p>
          <a:p>
            <a:pPr/>
            <a:r>
              <a:t>**Ключевые ссылки и источники (общедоступные)**</a:t>
            </a:r>
          </a:p>
          <a:p>
            <a:pPr/>
            <a:r>
              <a:t>- **ITIL 4** – практика *Financial Management* (AXELOS, 2019).</a:t>
            </a:r>
          </a:p>
          <a:p>
            <a:pPr/>
            <a:r>
              <a:t>- **Gartner** – “IT Financial Management: Best Practices for Cost Transparency and Optimization” (2022‑2023).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**COBIT 2019** – область управления ресурсами (EDM06 – Ensure Benefits Delivery).</a:t>
            </a:r>
          </a:p>
          <a:p>
            <a:pPr/>
            <a:r>
              <a:t>- **CIO.com** – статьи о построении моделей себестоимости ИТ‑услуг и применении show‑back/charge‑back.</a:t>
            </a:r>
          </a:p>
          <a:p>
            <a:pPr/>
            <a:r>
              <a:t>- **ISO/IEC 20000‑1** – требования к управлению финансами в сфере ИТ‑услуг.</a:t>
            </a:r>
          </a:p>
          <a:p>
            <a:pPr/>
            <a:r>
              <a:t>*Примечание: вышеуказанные ссылки являются общедоступными публикациями, часто используемыми в отрасли для построения практик ITFM. Конкретные ссылки на отдельные статьи можно получить по запросу в соответствующих базах знаний или у поставщиков решений.*</a:t>
            </a:r>
          </a:p>
          <a:p>
            <a:pPr/>
            <a:r>
              <a:t>---</a:t>
            </a:r>
          </a:p>
          <a:p>
            <a:pPr/>
            <a:r>
              <a:t>**Следующие шаги для вас (Виктория)**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Слайд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Определите, какие именно аспекты ИТ‑расходов вам критически важны прозрачно контролировать (облачная инфраструктура, лицензии, внутренняя разработка).</a:t>
            </a:r>
          </a:p>
          <a:p>
            <a:pPr/>
            <a:r>
              <a:t>2. Проведите быстрый аудит существующих источников данных (бухгалтерия, CMDB, счета облачных провайдеров) – это даст понять объём preparatory work.</a:t>
            </a:r>
          </a:p>
          <a:p>
            <a:pPr/>
            <a:r>
              <a:t>3. На основе аудита выберите подход: пилот с использованием уже имеющегося BI‑инструмента (Power BI/Tableau) или пилотное внедрение специализированного решения (например, Apptio Cloudability).</a:t>
            </a:r>
          </a:p>
          <a:p>
            <a:pPr/>
            <a:r>
              <a:t>4. Составьте дорожную карту с вехами (оценка → проектирование модели → пилот → roll‑out) и назначьте ответственных.</a:t>
            </a:r>
          </a:p>
          <a:p>
            <a:pPr/>
            <a:r>
              <a:t>Если понадобится более детальная проработка модели затрат, подбор конкретного инструмента или помощь в построении бизнес‑кейса – дайте знать, подготовлю конкретный план расчётов и рекомендации по поставщикам.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