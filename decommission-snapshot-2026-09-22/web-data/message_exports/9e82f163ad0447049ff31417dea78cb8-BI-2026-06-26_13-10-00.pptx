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Arial"/>
              </a:rPr>
              <a:t>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7863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F7F9FC"/>
                </a:solidFill>
                <a:latin typeface="Arial"/>
              </a:rPr>
              <a:t>• Презентация: Бизнес‑интеллект (BI) – определение, цели, архитектура, этапы внедрения, история термина, эволюция практик и инструментов</a:t>
            </a:r>
          </a:p>
          <a:p>
            <a:r>
              <a:rPr sz="1400" b="0" i="0">
                <a:solidFill>
                  <a:srgbClr val="F7F9FC"/>
                </a:solidFill>
                <a:latin typeface="Arial"/>
              </a:rPr>
              <a:t>• Слайд 1. Титульный</a:t>
            </a:r>
          </a:p>
          <a:p>
            <a:r>
              <a:rPr sz="1400" b="0" i="0">
                <a:solidFill>
                  <a:srgbClr val="F7F9FC"/>
                </a:solidFill>
                <a:latin typeface="Arial"/>
              </a:rPr>
              <a:t>• Слайд 2. Определение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Структура презентации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4892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1. Презентация: Бизнес‑интеллект (BI) – определение, цели, архитектура, этапы внедрения, история термина, эволюция практик и инструментов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4892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2. Слайд 1. Титульный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4892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79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3. Слайд 2. Определение 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331720"/>
            <a:ext cx="4892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79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4. Ключевые элементы BI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46120"/>
            <a:ext cx="4892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383279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5. Слайд 3. Зачем нужно BI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46120"/>
            <a:ext cx="4892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383279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6. Слайд 4. Как идеально применять BI (архитектура и лучшие практики)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Структура презентации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4892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1. Типовые слои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4892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2. Лучшие практики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4892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79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3. Слайд 5. Внедрение BI по шагам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331720"/>
            <a:ext cx="4892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79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4. Шаг 1: Оценка готовности и формулирование целей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46120"/>
            <a:ext cx="4892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383279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5. Шаг 2: Проектирование архитектуры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46120"/>
            <a:ext cx="4892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383279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6. Шаг 3: Реализация пилотного проекта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Структура презентации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4892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1. Шаг 4: Масштабирование и внедрение в производство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4892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2. Шаг 5: Поддержка, оптимизация и эволюция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4892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79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3. Слайд 6. История термина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331720"/>
            <a:ext cx="4892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79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4. Слайд 7. Развитие практик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46120"/>
            <a:ext cx="48920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383279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5. Общие рекомендации по форматированию и разметке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Презентация: Бизнес‑интеллект (BI) – определение, цели, архитектура, этапы внедрения, история термина, эволюция практик и инструментов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667085"/>
                </a:solidFill>
                <a:latin typeface="Arial"/>
              </a:rPr>
              <a:t>Поэтапный план внедрения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3154680"/>
            <a:ext cx="9418320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965960"/>
            <a:ext cx="22402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475488" cy="329184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65376"/>
            <a:ext cx="20116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1828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142033"/>
                </a:solidFill>
                <a:latin typeface="Arial"/>
              </a:rPr>
              <a:t>Подготовлено для: руководства компании, аналитиков данных, ИТ‑специалистов, владельцев бизнес‑процессов</a:t>
            </a:r>
            <a:r>
              <a:rPr sz="1200" b="0" i="1">
                <a:solidFill>
                  <a:srgbClr val="142033"/>
                </a:solidFill>
                <a:latin typeface="Arial"/>
              </a:rPr>
              <a:t>Дата: 26 июня 2026 года</a:t>
            </a:r>
            <a:r>
              <a:rPr sz="1200" b="0" i="1">
                <a:solidFill>
                  <a:srgbClr val="142033"/>
                </a:solidFill>
                <a:latin typeface="Arial"/>
              </a:rPr>
              <a:t>Подготовил: Агент‑консультант Hermes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 1. Титульный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1">
                <a:solidFill>
                  <a:srgbClr val="142033"/>
                </a:solidFill>
                <a:latin typeface="Arial"/>
              </a:rPr>
              <a:t>Рекомендация по оформлению: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крупный заголовок по центру, под ним – подзаголовок с целевой аудиторией, внизу – дата и имя автора.</a:t>
            </a:r>
            <a:r>
              <a:rPr sz="1200" b="0" i="1">
                <a:solidFill>
                  <a:srgbClr val="142033"/>
                </a:solidFill>
                <a:latin typeface="Arial"/>
              </a:rPr>
              <a:t>Иллюстрация: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можно разместить фирменный логотип компании или символическую иллюстрацию «данные → решения» (рекомендуется подобрать изображение из открытых источников, например, схему цикла BI).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 2. Определение BI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Бизнес‑интеллект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это комплекс методологий, процессов, архитектур и технологий, направленных на сбор, хранение, обработку и анализ данных с целью преобразования их в полезную информацию для поддержки принятия решений.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Ключевые элементы BI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источники данных (операционные системы, внешние базы, файлы, потоки)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слой интеграции (ETL/ELT, очистка, трансформация, загрузка)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слой хранения (data warehouse, data mart, data lake, озеро данных)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слой семантической модели (бизнес‑глоссарий, онтологии, метаданные)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Ключевые элементы BI (продолжение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слой аналитики (отчетность, OLAP, data mining, статистический анализ, машинное обучение)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слой визуализации и доступа (дашборды, интерактивные отчеты, self‑service порталы, мобильные приложения)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слой действий и мониторинга (KPI, оповещения, автоматические решения, обратная связь в бизнес‑процессы)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1">
                <a:solidFill>
                  <a:srgbClr val="142033"/>
                </a:solidFill>
                <a:latin typeface="Arial"/>
              </a:rPr>
              <a:t>Рекомендация по оформления: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использовать двухколоночную структуру – слева определение, справа иконки/блоки с перечисленными слоями.</a:t>
            </a:r>
            <a:r>
              <a:rPr sz="1200" b="0" i="1">
                <a:solidFill>
                  <a:srgbClr val="142033"/>
                </a:solidFill>
                <a:latin typeface="Arial"/>
              </a:rPr>
              <a:t>Иллюстрация: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схема слоёв архитектуры BI (можно взять из открытых источников, отметив необходимость подобрать соответствующую картинку).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 3. Зачем нужно BI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Поддержка принятия решений на всех управленческих уровнях (тактическом → стратегическом).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Объединение внутренних и внешних данных → единая картина бизнеса.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Выявление скрытых закономерностей и возможностей (сегментация клиентов, прогноз спроса, обнаружение мошенничества, оптимизация цепочек поставок).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Повышение эффективности процессов (сокращение времени подготовки отчетов, уменьшение ошибок, ускорение закрытия периодов).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 3. Зачем нужно BI (продолжение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Создание конкурентного преимущества (быстрая реакция на рынок, лучшее понимание клиентов, обоснованные инвестиции).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Измерение результатов через KPI и сбалансированные показатели.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1">
                <a:solidFill>
                  <a:srgbClr val="142033"/>
                </a:solidFill>
                <a:latin typeface="Arial"/>
              </a:rPr>
              <a:t>Рекомендация по оформления: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каждый пункт – отдельный маркер с иконкой (например, шестеренка, график, shield).</a:t>
            </a:r>
            <a:r>
              <a:rPr sz="1200" b="0" i="1">
                <a:solidFill>
                  <a:srgbClr val="142033"/>
                </a:solidFill>
                <a:latin typeface="Arial"/>
              </a:rPr>
              <a:t>Иллюстрация: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диаграмма «ценность BI для бизнеса» (можно подобрать из открытых источников).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 4. Как идеально применять BI (архитектура и лучшие практики)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4937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636776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F6BFF"/>
                </a:solidFill>
                <a:latin typeface="Arial"/>
              </a:rPr>
              <a:t>Принцип</a:t>
            </a:r>
          </a:p>
          <a:p>
            <a:r>
              <a:rPr sz="1200" b="0" i="0">
                <a:solidFill>
                  <a:srgbClr val="142033"/>
                </a:solidFill>
                <a:latin typeface="Arial"/>
              </a:rPr>
              <a:t>«одна версия правды» – все данные проходят через единый слой интеграции и хранения.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Типовые слои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667085"/>
                </a:solidFill>
                <a:latin typeface="Arial"/>
              </a:rPr>
              <a:t>Поэтапный план внедрения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3154680"/>
            <a:ext cx="9418320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965960"/>
            <a:ext cx="22402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475488" cy="329184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65376"/>
            <a:ext cx="20116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1828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2033"/>
                </a:solidFill>
                <a:latin typeface="Arial"/>
              </a:rPr>
              <a:t>Вход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сбор данных из ERP, CRM, систем логирования, внешних API, файлов, потоков.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965960"/>
            <a:ext cx="22402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1828800"/>
            <a:ext cx="475488" cy="329184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865376"/>
            <a:ext cx="20116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240280"/>
            <a:ext cx="1828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2033"/>
                </a:solidFill>
                <a:latin typeface="Arial"/>
              </a:rPr>
              <a:t>Интеграция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ETL/ELT процессы с профилированием, очисткой, дедупликацией, обогащением справочниками.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65960"/>
            <a:ext cx="22402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828800"/>
            <a:ext cx="475488" cy="329184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65376"/>
            <a:ext cx="20116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1828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2033"/>
                </a:solidFill>
                <a:latin typeface="Arial"/>
              </a:rPr>
              <a:t>Хранилище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центральное хранилище данных (data warehouse) или тематические витрины (data mart), возможно дополненное озером данных для неструктурированной информации.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965960"/>
            <a:ext cx="22402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20" y="1828800"/>
            <a:ext cx="475488" cy="329184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865376"/>
            <a:ext cx="20116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240280"/>
            <a:ext cx="1828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2033"/>
                </a:solidFill>
                <a:latin typeface="Arial"/>
              </a:rPr>
              <a:t>Семантический слой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бизнес‑глоссарий, модели измерений и фактов, метаданные о lineage и качестве.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Типовые слои (этапы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667085"/>
                </a:solidFill>
                <a:latin typeface="Arial"/>
              </a:rPr>
              <a:t>Поэтапный план внедрения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3154680"/>
            <a:ext cx="9418320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965960"/>
            <a:ext cx="22402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475488" cy="329184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65376"/>
            <a:ext cx="20116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1828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2033"/>
                </a:solidFill>
                <a:latin typeface="Arial"/>
              </a:rPr>
              <a:t>Аналитика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OLAP‑кубы для многомерного среза, статистические модели, алгоритмы машинного обучения для предиктивной и прескриптивной аналитики.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965960"/>
            <a:ext cx="22402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1828800"/>
            <a:ext cx="475488" cy="329184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865376"/>
            <a:ext cx="20116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240280"/>
            <a:ext cx="1828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2033"/>
                </a:solidFill>
                <a:latin typeface="Arial"/>
              </a:rPr>
              <a:t>Визуализация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интерактивные дашборды, отчеты по расписанию, self‑service порталы, встраиваемая аналитика в бизнес‑приложения.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65960"/>
            <a:ext cx="22402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828800"/>
            <a:ext cx="475488" cy="329184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65376"/>
            <a:ext cx="20116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1828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2033"/>
                </a:solidFill>
                <a:latin typeface="Arial"/>
              </a:rPr>
              <a:t>Действия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автоматические оповещения, workflow‑триггеры, обратная связь в операционные системы, мониторинг выполнения планов.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Лучшие практики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создание центра компетенции по BI (BICC) или аналитики (ACC) – управление стандартами, обучение пользователей, обеспечение качества.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внедрение самообслуживающего BI с чётким управлением доступом и политиками безопасности.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использование augmented analytics: автоматическое выявление инсайтов, объяснение отклонений метрик, генерация рекомендаций на естественном языке.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обработка неструктурированных данных (текст, логи, соцсети) с применением NLP и техники извлечения сущностей.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Лучшие практики (продолжение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соблюдение нормативных требований (GDPR, CCPA, отраслевые стандарты) через шифрование, контроль доступа, журналы аудита и политики хранения.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непрерывный мониторинг качества данных и производительности pipelines (lag, свежесть, использование ресурсов).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1">
                <a:solidFill>
                  <a:srgbClr val="142033"/>
                </a:solidFill>
                <a:latin typeface="Arial"/>
              </a:rPr>
              <a:t>Рекомендация по оформления: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вертикальная схема слоёв (число 1‑7) с короткими подписями; рядом блок «Лучшие практики» с иконками.</a:t>
            </a:r>
            <a:r>
              <a:rPr sz="1200" b="0" i="1">
                <a:solidFill>
                  <a:srgbClr val="142033"/>
                </a:solidFill>
                <a:latin typeface="Arial"/>
              </a:rPr>
              <a:t>Иллюстрация: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архитектурная диаграмма BI (можно подобрать из открытых источников, отметив необходимость заменить placeholder на реальную ссылку).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 5. Внедрение BI по шагам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Материал подготовлен без дополнительных пунктов.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Шаг 1: Оценка готовности и формулирование целей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инвентаризация источников данных, оценка качества, частоты обновления, доступности.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определение конкретных измеримых бизнес‑целей (например, сократить время подготовки месячной отчетности с 5 дней до 4 часов, увеличить кросс‑продажи на 10 % за год за счёт анализа поведения клиентов).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Шаг 2: Проектирование архитектуры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выбор типа решения (корпоративное хранилище данных, витрины для подразделений, гибридное озеро + склад).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определение стека технологий: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ETL: Informatica, Talend, Azure Data Factory, Apache NiFi.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Хранилища: Snowflake, Redshift, BigQuery, Azure Synapse, PostgreSQL.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Шаг 2: Проектирование архитектуры (продолжение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OLAP: SSAS, Apache Kylin.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Визуализация: Power BI, Tableau, Qlik Sense, Looker.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Платформы ML: Databricks, SageMaker, Azure ML.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модель безопасности: роли, права доступа, шифрование данных в покое и в движении, журналы аудита.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Шаг 3: Реализация пилотного проекта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выбор use case с высокой бизнес‑ценностью и простым доступом к данным (анализ продаж по регионам или прогноз оттока клиентов).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формирование кросс‑функциональной команды (бизнес‑аналитик, инженер данных, аналитик данных, представитель ИТ, владелец процесса).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построение ETL пайплайна, создание витрины данных, прототип дашбордов и отчетов.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тестирование с конечными пользователями, сбор обратной связи, корректировка модели данных и визуализаций.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измерение результатов по согласованным KPI (время подготовки отчета, точность прогноза, степень удовлетворённости пользователей).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Шаг 4: Масштабирование и внедрение в производство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на основе успеха пилота утвердить дорожную карту расширения (новые источники данных, больше витрин, расширение круга пользователей).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внедрение процессов управления изменениями: обучение конечных пользователей, создание документации и FAQ, establishment службы поддержки и helpdesk.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установка механизмов мониторинга: контроль свежести данных, отслеживание времени выполнения ETL, метрики использования дашбордов, оповещения об аномалиях.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обеспечение соответствия регулятивным требованиям: настройка ролей, шифрование, политики хранения и удаления данных, регулярные аудиты.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Шаг 5: Поддержка, оптимизация и эволюция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переход к режиму постоянной эксплуатации: регулярные обновления ETL‑процессов, добавление новых источников, оптимизация запросов и агрегаций.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развитие самообслуживания: предоставление бизнес‑пользователям доступа к подготовленным наборам данных и инструментам визуализации с управлением метаданными.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интеграция продвинутой аналитики и ИИ: добавление предиктивных моделей, автоматическое обнаружение аномалий, естественно‑языковые запросы (например, через Copilot в Power BI).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Шаг 5: Поддержка, оптимизация и эволюция (продолжение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периодический пересмотр KPI и бизнес‑целей, корректировка дорожной карты на основе полученных результатов.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оценка ROI: сравнение инвестиций в инфраструктуру и лицензии с измеренной выгодой (экономия времени, рост выручки, снижение издержек).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1">
                <a:solidFill>
                  <a:srgbClr val="142033"/>
                </a:solidFill>
                <a:latin typeface="Arial"/>
              </a:rPr>
              <a:t>Рекомендация по оформления: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вертикальная нумерация шагов, каждый шаг – заголовок с подпунктами; можно использовать иконки (цель, схема, пилот, рост, поддержка).</a:t>
            </a:r>
            <a:r>
              <a:rPr sz="1200" b="0" i="1">
                <a:solidFill>
                  <a:srgbClr val="142033"/>
                </a:solidFill>
                <a:latin typeface="Arial"/>
              </a:rPr>
              <a:t>Иллюстрация: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дорожная карта внедрения BI (временная линия с этапами) – рекомендуется подобрать готовую схему из открытых источников.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 6. История термина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1865 год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первое упоминание термина «business intelligence» в труде Ричарда Милларда Девенса «Cyclopaedia of Commercial and Business Anecdotes» (банкир сэр Генри Фурнис использовал своевременную информацию о событиях для получения прибыли).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1958 год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Ханс Петер Лун из IBM в статье «A Business Intelligence System» определяет бизнес‑интеллект как способность улавливать взаимосвязи представленных фактов для направления действий к желаемой цели.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1989 год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Говард Дреснер (позже аналитик Gartner) вводит бизнес‑интеллект как зонтичный термин для концепций и методов улучшения управленческих решений на основе фактических систем поддержки.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Конец 1990‑х – начало 2000‑х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широкое распространение термина благодаря внедрению первых корпоративных data warehouse и специализированных BI‑платформ (Teradata, Oracle, IBM).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1">
                <a:solidFill>
                  <a:srgbClr val="142033"/>
                </a:solidFill>
                <a:latin typeface="Arial"/>
              </a:rPr>
              <a:t>Рекомендация по оформления: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горизонтальная временная линия с датами и краткими пояснениями; можно использовать иконки (книга, статья, термин, склад).</a:t>
            </a:r>
            <a:r>
              <a:rPr sz="1200" b="0" i="1">
                <a:solidFill>
                  <a:srgbClr val="142033"/>
                </a:solidFill>
                <a:latin typeface="Arial"/>
              </a:rPr>
              <a:t>Иллюстрация: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timeline истории термина BI (рекомендуется подобрать из открытых источников).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 7. Развитие практик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Эпоха МИС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статические отчёты и ad‑hoc запросы, фокус на оперативную отчётность и контроль выполнения планов.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1990‑е годы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массовое внедрение data warehouse, OLAP‑кубов, многомерный анализ; появление data mart, OLAP, начало использования KPI и систем измерения эффективности.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Начало 2000‑х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распространение balanced scorecard, систем управления эффективностью, формирование центров компетенции по BI (BICC) для стандартизации и обучения пользователей.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Середина 2000‑х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рост самообслуживающего BI, появление инструментов визуализации, ориентированных на бизнес‑пользователей (Tableau основана 2003, QlikView 1993 но массовое采用 позже, Power BI 2015).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2010‑е годы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интеграция больших данных, работа с данными озерами (data lake), Hadoop, Spark; рост интереса к data discovery, data preparation и работе с неструктурированными данными (текст, логи, соцсети).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 7. Развитие практик (продолжение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Конец 2010‑х – настоящее время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augmented analytics (автоматическое выявление инсайтов, объяснение причин- Конец 2010‑х – настоящее время – augmented analytics (автоматическое выявление инсайтов, объяснение причин отклонений, генерация рекомендаций на естественном языке), рост self‑service аналитики, интеграция AI/ML в обычные дашборды, распространение облачных BI‑платформ и гибридных архитектур (multi‑cloud, data mesh).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Вывод: развитие BI движется от статичных отчётов к интеллектуальным, самообучающимся системам, которые не только показывают что произошло, но и подсказывают what‑if сценарии и рекомендуют действия.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1">
                <a:solidFill>
                  <a:srgbClr val="142033"/>
                </a:solidFill>
                <a:latin typeface="Arial"/>
              </a:rPr>
              <a:t>Рекомендация по оформления</a:t>
            </a:r>
            <a:r>
              <a:rPr sz="1200" b="0" i="0">
                <a:solidFill>
                  <a:srgbClr val="142033"/>
                </a:solidFill>
                <a:latin typeface="Arial"/>
              </a:rPr>
              <a:t>: вертикальная лента с периодами и короткими подписями, слева иконка (например, часы, диск, облако, мозг).</a:t>
            </a:r>
            <a:r>
              <a:rPr sz="1200" b="0" i="1">
                <a:solidFill>
                  <a:srgbClr val="142033"/>
                </a:solidFill>
                <a:latin typeface="Arial"/>
              </a:rPr>
              <a:t>Иллюстрация</a:t>
            </a:r>
            <a:r>
              <a:rPr sz="1200" b="0" i="0">
                <a:solidFill>
                  <a:srgbClr val="142033"/>
                </a:solidFill>
                <a:latin typeface="Arial"/>
              </a:rPr>
              <a:t>: timeline эволюции практик BI (можно взять из открытых источников, отметив необходимость подбора подходящей картинки).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Слайд 8. Будущие тренды и вызовы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AI‑driven BI</a:t>
            </a:r>
            <a:r>
              <a:rPr sz="1200" b="0" i="0">
                <a:solidFill>
                  <a:srgbClr val="142033"/>
                </a:solidFill>
                <a:latin typeface="Arial"/>
              </a:rPr>
              <a:t>: генеративные модели для автоматического создания отчётов, диалоговые интерфейсы (natural language querying) и предписывающая аналитика.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 7. Развитие практик (продолжение 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Data Mesh и децентрализованная собственность на данные</a:t>
            </a:r>
            <a:r>
              <a:rPr sz="1200" b="0" i="0">
                <a:solidFill>
                  <a:srgbClr val="142033"/>
                </a:solidFill>
                <a:latin typeface="Arial"/>
              </a:rPr>
              <a:t>: домен‑ориентированные владения данными, self‑serve инфраструктура как продукт.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Реальное время и потоковая аналитика</a:t>
            </a:r>
            <a:r>
              <a:rPr sz="1200" b="0" i="0">
                <a:solidFill>
                  <a:srgbClr val="142033"/>
                </a:solidFill>
                <a:latin typeface="Arial"/>
              </a:rPr>
              <a:t>: streaming‑ETL, сложная событийная обработка, интеграция с IoT и событийными потоками.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Конфиденциальность и этика</a:t>
            </a:r>
            <a:r>
              <a:rPr sz="1200" b="0" i="0">
                <a:solidFill>
                  <a:srgbClr val="142033"/>
                </a:solidFill>
                <a:latin typeface="Arial"/>
              </a:rPr>
              <a:t>: усиление регуляций (GDPR, CCPA, AI‑Act), необходимость объяснимости моделей, управление метаданными и lineage.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Гибридные и мультиоблачные стратегии</a:t>
            </a:r>
            <a:r>
              <a:rPr sz="1200" b="0" i="0">
                <a:solidFill>
                  <a:srgbClr val="142033"/>
                </a:solidFill>
                <a:latin typeface="Arial"/>
              </a:rPr>
              <a:t>: гибкое перемещение workloads между публичными, частными и edge‑средами.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Навыки и культура</a:t>
            </a:r>
            <a:r>
              <a:rPr sz="1200" b="0" i="0">
                <a:solidFill>
                  <a:srgbClr val="142033"/>
                </a:solidFill>
                <a:latin typeface="Arial"/>
              </a:rPr>
              <a:t>: рост спроса на данные‑грамотность, развитие data‑literacy программ, построение данных‑ориентированной культуры в организации.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 7. Развитие практик (продолжение 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1">
                <a:solidFill>
                  <a:srgbClr val="142033"/>
                </a:solidFill>
                <a:latin typeface="Arial"/>
              </a:rPr>
              <a:t>Вывод</a:t>
            </a:r>
            <a:r>
              <a:rPr sz="1200" b="0" i="0">
                <a:solidFill>
                  <a:srgbClr val="142033"/>
                </a:solidFill>
                <a:latin typeface="Arial"/>
              </a:rPr>
              <a:t>: успешное будущее BI требует сочетания технологических инноваций, надёжного управления данными и развития навыков людей.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1">
                <a:solidFill>
                  <a:srgbClr val="142033"/>
                </a:solidFill>
                <a:latin typeface="Arial"/>
              </a:rPr>
              <a:t>Рекомендация по оформления</a:t>
            </a:r>
            <a:r>
              <a:rPr sz="1200" b="0" i="0">
                <a:solidFill>
                  <a:srgbClr val="142033"/>
                </a:solidFill>
                <a:latin typeface="Arial"/>
              </a:rPr>
              <a:t>: каждый тренд – отдельный блок с иконкой (мозг, сеть, облако, щит, облака, человек).</a:t>
            </a:r>
            <a:r>
              <a:rPr sz="1200" b="0" i="1">
                <a:solidFill>
                  <a:srgbClr val="142033"/>
                </a:solidFill>
                <a:latin typeface="Arial"/>
              </a:rPr>
              <a:t>Иллюстрация</a:t>
            </a:r>
            <a:r>
              <a:rPr sz="1200" b="0" i="0">
                <a:solidFill>
                  <a:srgbClr val="142033"/>
                </a:solidFill>
                <a:latin typeface="Arial"/>
              </a:rPr>
              <a:t>: коллаж иконок будущих трендов (можно подобрать из открытых источников).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Слайд 9. Заключение и следующие шаги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BI – это не просто набор отчётов, а стратегическая платформа, превращающая данные в действенные инсайты.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 7. Развитие практик (продолжение 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Успешное внедрение требует чёткой бизнес‑цели, продуманной архитектуры, соблюдения лучших практик и поэтапного подхода.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История термина и эволюция практик показывают, что область постоянно развивается, и organisation должна быть готова к адаптации.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Рекомендации для аудитории: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Определить приоритетные бизнес‑вопросы, которые BI может решить.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 7. Развитие практик (продолжение 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Провести аудит текущих источников данных и их качества.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Выбрать пилотный use case с высокой价值 и прозрачным ROI.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Сформировать кросс‑функциональную команду и определить стек технологий.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Запустить пилот, измерить результаты, масштабировать успешно.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Слайд 7. Развитие практик (продолжение 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Внедрить процессы мониторинга, управления качеством данных и обучения пользователей.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Планировать постепенное внедрение передовых технологий (augmented analytics, data mesh, реальное время).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1">
                <a:solidFill>
                  <a:srgbClr val="142033"/>
                </a:solidFill>
                <a:latin typeface="Arial"/>
              </a:rPr>
              <a:t>Вывод</a:t>
            </a:r>
            <a:r>
              <a:rPr sz="1200" b="0" i="0">
                <a:solidFill>
                  <a:srgbClr val="142033"/>
                </a:solidFill>
                <a:latin typeface="Arial"/>
              </a:rPr>
              <a:t>: следуя этим шагам, организация сможет превратить данные в конкурентное преимущество и обеспечить устойчивый рост.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1">
                <a:solidFill>
                  <a:srgbClr val="142033"/>
                </a:solidFill>
                <a:latin typeface="Arial"/>
              </a:rPr>
              <a:t>Рекомендация по оформления</a:t>
            </a:r>
            <a:r>
              <a:rPr sz="1200" b="0" i="0">
                <a:solidFill>
                  <a:srgbClr val="142033"/>
                </a:solidFill>
                <a:latin typeface="Arial"/>
              </a:rPr>
              <a:t>: заключительный слайд с крупным заголовком, кратким списком действий и контактной информацией автора.</a:t>
            </a:r>
            <a:r>
              <a:rPr sz="1200" b="0" i="1">
                <a:solidFill>
                  <a:srgbClr val="142033"/>
                </a:solidFill>
                <a:latin typeface="Arial"/>
              </a:rPr>
              <a:t>Иллюстрация</a:t>
            </a:r>
            <a:r>
              <a:rPr sz="1200" b="0" i="0">
                <a:solidFill>
                  <a:srgbClr val="142033"/>
                </a:solidFill>
                <a:latin typeface="Arial"/>
              </a:rPr>
              <a:t>: изображение стрелки роста или графика роста бизнеса (рекомендуется подобрать из открытых источников).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Общие рекомендации по форматированию и разметке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Использовать единый стиль шрифтов: заголовки – крупный жирный, подзаголовки – средний, основной текст – обычный.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Выравнивание текста по левому краю, заголовки по центру слайда.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Маркированные списки обозначать дефисом «-» или простымจุด, вложенные списки – дополнительным отступом.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Выделять ключевые термины заглавными буквами или выделять их кавычками.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Разделять блоки内容 пустой строкой для визуального разделения.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Общие рекомендации по форматированию и разметке (продолжение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Вставлять предложения про иллюстрации в виде примечания: «Рекомендуется подобрать иллюстрацию из открытых источников (например, Unsplash, Pixabay) с соответствующей подписью».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Не использовать markdown‑символы (звёздочки, обратные косые черты, backticks).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Обеспечить достаточное пустое пространство вокруг блоков текста и иллюстраций для улучшения восприятия.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Рекомендации по подбору иллюстраций</a:t>
            </a:r>
            <a:r>
              <a:rPr sz="1200" b="0" i="0">
                <a:solidFill>
                  <a:srgbClr val="142033"/>
                </a:solidFill>
                <a:latin typeface="Arial"/>
              </a:rPr>
              <a:t>(все источники должны быть проверены на наличие прав на свободное использование):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Схема слоёв архитектуры BI (можно найти на википедии или в открытых материалах вендоров).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Общие рекомендации по форматированию и разметке (продолжение 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Диаграмма «ценность BI для бизнеса» (иконки: шестерёнка, график, shield, рукопожатие).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Временная линия истории термина BI (иконки: книга, статья, термин, склад).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Timeline эволюции практик (иконки: основные этапы – MIS, склад, OLAP, самообслуживание, big data, augmented analytics).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Иконки будущих трендов (мозг для AI, сеть для data mesh, волна для потоковой аналитики, щит для соответствия, облака для мультиоблачных стратегий, человек для навыков).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Общие рекомендации по форматированию и разметке (продолжение 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Стрелка роста или график роста бизнеса для заключительного слайда.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Все рекомендации носят рекомендательный характер; фактический выбор изображений следует осуществлять из источников с соответствующей лицензией (Creative Commons, общественное достояние или корпоративные медиатеки с правом использования).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Презентация готова к использованию. При необходимости можно добавить номера слайдов в нижний колонтитул и логотип компании в углу каждого слайда.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Конец ответа.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